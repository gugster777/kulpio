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— Kulpio for Infomatrix, Programming category. Introduce yourself and the school (T.L. Orizont, Ceadîr-Lunga), then the project and its technical scope.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third of food is wasted; households are a huge share; the cause at home is forgetting — an information problem, solvable with software.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Kulpio aligns with SDG 12 (Responsible Consumption — primary), SDG 2 (Zero Hunger) and SDG 13 (Climate Action), and directly serves UN Target 12.3: halve food waste by 2030.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three-step loop: add with almost no effort, see what's expiring, use it in time — with money-saved feedback that keeps you coming 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screenshots: the scanned product card, the impact screen, and the shared-fridge chat. Everything runs offline from a single HTML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pillars: effortless input, storage sections, recipes, the shared fridge, motivation, and 33-language reach.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Scientific method: printed date beats an offline shelf-life estimate beats an AI refinement. The AI itself degrades gracefully — best model, then a free Llama fallback, then a clean error — so the app never blocks.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Hardware/software: the client is one static HTML file with a service worker; the backend is a single Cloudflare Worker plus D1 (SQLite), Web Push and Web Crypto. No build step; deploys to static hosting.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competitor combines offline-first, AI input, a social shared fridge, 33 languages and privacy. The combination is the innovation.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Local-first storage, GDPR export and true account deletion, plus hardened, rate-limited auth — a credible privacy posture users and judges can trust.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file, 33 languages, 300+ offline checks across 4 suites, all in CI on every push. The AI path degrades gracefully so it never blocks the app.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Iterations and the problem solved at each: offline (service worker), trustworthy dates (printed beats estimate), low-friction input (four paths), and safe multi-device sync (server-side merge).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Future improvements: run the real pilot, validate the shelf-life table, add email verification, field-level merge and a shareable impact report. Kulpio is free and open-source under the AGPL v3.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you. Kulpio: waste less, save money, in any language — built for the Global Goals. Questions welcome.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-1737360"/>
            <a:ext cx="5120640" cy="5120640"/>
          </a:xfrm>
          <a:prstGeom prst="ellipse">
            <a:avLst/>
          </a:prstGeom>
          <a:solidFill>
            <a:srgbClr val="1F5D3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00" y="2651760"/>
            <a:ext cx="2011680" cy="2011680"/>
          </a:xfrm>
          <a:prstGeom prst="ellipse">
            <a:avLst/>
          </a:prstGeom>
          <a:solidFill>
            <a:srgbClr val="18301C"/>
          </a:solidFill>
          <a:ln/>
        </p:spPr>
      </p:sp>
      <p:sp>
        <p:nvSpPr>
          <p:cNvPr id="4" name="Shape 2"/>
          <p:cNvSpPr/>
          <p:nvPr/>
        </p:nvSpPr>
        <p:spPr>
          <a:xfrm>
            <a:off x="10195560" y="1600200"/>
            <a:ext cx="457200" cy="457200"/>
          </a:xfrm>
          <a:prstGeom prst="ellipse">
            <a:avLst/>
          </a:prstGeom>
          <a:solidFill>
            <a:srgbClr val="B5E048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05156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0" dirty="0">
                <a:solidFill>
                  <a:srgbClr val="000000"/>
                </a:solidFill>
              </a:rPr>
              <a:t>🍐</a:t>
            </a:r>
            <a:endParaRPr lang="en-US" sz="7000" dirty="0"/>
          </a:p>
        </p:txBody>
      </p:sp>
      <p:sp>
        <p:nvSpPr>
          <p:cNvPr id="6" name="Text 4"/>
          <p:cNvSpPr/>
          <p:nvPr/>
        </p:nvSpPr>
        <p:spPr>
          <a:xfrm>
            <a:off x="2057400" y="109728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endParaRPr lang="en-US" sz="7000" dirty="0"/>
          </a:p>
        </p:txBody>
      </p:sp>
      <p:sp>
        <p:nvSpPr>
          <p:cNvPr id="7" name="Text 5"/>
          <p:cNvSpPr/>
          <p:nvPr/>
        </p:nvSpPr>
        <p:spPr>
          <a:xfrm>
            <a:off x="777240" y="260604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B5E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 less food. Save money. In any language.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777240" y="333756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BD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single-file offline PWA + one Cloudflare Worker that helps households waste less food — AI input, trustworthy expiry, a shared fridge, 33 languages.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77240" y="5029200"/>
            <a:ext cx="2354580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5029200"/>
            <a:ext cx="23545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INFOMATRIX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14700" y="5029200"/>
            <a:ext cx="1860804" cy="384048"/>
          </a:xfrm>
          <a:prstGeom prst="roundRect">
            <a:avLst>
              <a:gd name="adj" fmla="val 50000"/>
            </a:avLst>
          </a:prstGeom>
          <a:solidFill>
            <a:srgbClr val="2C6E3F"/>
          </a:solidFill>
          <a:ln/>
        </p:spPr>
      </p:sp>
      <p:sp>
        <p:nvSpPr>
          <p:cNvPr id="12" name="Text 10"/>
          <p:cNvSpPr/>
          <p:nvPr/>
        </p:nvSpPr>
        <p:spPr>
          <a:xfrm>
            <a:off x="3314700" y="5029200"/>
            <a:ext cx="18608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PROGRAMMING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22960" y="57607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Daniil Bejenari
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9FB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T.L. Orizont · Ceadîr-Lunga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860804" cy="384048"/>
          </a:xfrm>
          <a:prstGeom prst="roundRect">
            <a:avLst>
              <a:gd name="adj" fmla="val 50000"/>
            </a:avLst>
          </a:prstGeom>
          <a:solidFill>
            <a:srgbClr val="E8624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8608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03504" y="950976"/>
            <a:ext cx="11155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third of our food is wasted — mostly at home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3401568" cy="2331720"/>
          </a:xfrm>
          <a:prstGeom prst="roundRect">
            <a:avLst>
              <a:gd name="adj" fmla="val 509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96112" y="2331720"/>
            <a:ext cx="2926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6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~1/3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896112" y="3200400"/>
            <a:ext cx="2926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all food produced is lost or wasted (FAO)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4370832" y="2103120"/>
            <a:ext cx="3401568" cy="2331720"/>
          </a:xfrm>
          <a:prstGeom prst="roundRect">
            <a:avLst>
              <a:gd name="adj" fmla="val 509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626864" y="2331720"/>
            <a:ext cx="2926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6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4626864" y="3200400"/>
            <a:ext cx="2926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households are among the largest single contributors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8101584" y="2103120"/>
            <a:ext cx="3401568" cy="2331720"/>
          </a:xfrm>
          <a:prstGeom prst="roundRect">
            <a:avLst>
              <a:gd name="adj" fmla="val 509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357616" y="2331720"/>
            <a:ext cx="2926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0A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Forget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8357616" y="3200400"/>
            <a:ext cx="2926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cause at home: bought, forgotten, expired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640080" y="4828032"/>
            <a:ext cx="10881360" cy="1234440"/>
          </a:xfrm>
          <a:prstGeom prst="roundRect">
            <a:avLst>
              <a:gd name="adj" fmla="val 9630"/>
            </a:avLst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60120" y="5138928"/>
            <a:ext cx="603504" cy="6035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513892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💡</a:t>
            </a:r>
            <a:endParaRPr lang="en-US" sz="1980" dirty="0"/>
          </a:p>
        </p:txBody>
      </p:sp>
      <p:sp>
        <p:nvSpPr>
          <p:cNvPr id="17" name="Text 15"/>
          <p:cNvSpPr/>
          <p:nvPr/>
        </p:nvSpPr>
        <p:spPr>
          <a:xfrm>
            <a:off x="1783080" y="4828032"/>
            <a:ext cx="95097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an information &amp; attention problem — not a preservation problem.  </a:t>
            </a:r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B5E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exactly what an app can fix.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2354580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23545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GLOBAL GOALS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03504" y="950976"/>
            <a:ext cx="11155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the Sustainable Development Goals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3520440" cy="2697480"/>
          </a:xfrm>
          <a:prstGeom prst="roundRect">
            <a:avLst>
              <a:gd name="adj" fmla="val 4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331720"/>
            <a:ext cx="960120" cy="960120"/>
          </a:xfrm>
          <a:prstGeom prst="roundRect">
            <a:avLst>
              <a:gd name="adj" fmla="val 13333"/>
            </a:avLst>
          </a:prstGeom>
          <a:solidFill>
            <a:srgbClr val="BF8B2E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468880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914400" y="2651760"/>
            <a:ext cx="960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2057400" y="2395728"/>
            <a:ext cx="1367028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10" name="Text 8"/>
          <p:cNvSpPr/>
          <p:nvPr/>
        </p:nvSpPr>
        <p:spPr>
          <a:xfrm>
            <a:off x="2057400" y="2395728"/>
            <a:ext cx="13670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14400" y="3456432"/>
            <a:ext cx="2971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Responsible Consumption &amp; Production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914400" y="411480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Kulpio's core mission — cut the food households throw away.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329684" y="2057400"/>
            <a:ext cx="3520440" cy="2697480"/>
          </a:xfrm>
          <a:prstGeom prst="roundRect">
            <a:avLst>
              <a:gd name="adj" fmla="val 4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04004" y="2331720"/>
            <a:ext cx="960120" cy="960120"/>
          </a:xfrm>
          <a:prstGeom prst="roundRect">
            <a:avLst>
              <a:gd name="adj" fmla="val 13333"/>
            </a:avLst>
          </a:prstGeom>
          <a:solidFill>
            <a:srgbClr val="DDA63A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004" y="2468880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604004" y="2651760"/>
            <a:ext cx="960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4604004" y="3456432"/>
            <a:ext cx="2971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Hunger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4604004" y="411480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more of the food we buy; value it instead of binning it.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019288" y="2057400"/>
            <a:ext cx="3520440" cy="2697480"/>
          </a:xfrm>
          <a:prstGeom prst="roundRect">
            <a:avLst>
              <a:gd name="adj" fmla="val 4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293608" y="2331720"/>
            <a:ext cx="960120" cy="960120"/>
          </a:xfrm>
          <a:prstGeom prst="roundRect">
            <a:avLst>
              <a:gd name="adj" fmla="val 13333"/>
            </a:avLst>
          </a:prstGeom>
          <a:solidFill>
            <a:srgbClr val="3F7E44"/>
          </a:solidFill>
          <a:ln/>
        </p:spPr>
      </p:sp>
      <p:sp>
        <p:nvSpPr>
          <p:cNvPr id="21" name="Text 19"/>
          <p:cNvSpPr/>
          <p:nvPr/>
        </p:nvSpPr>
        <p:spPr>
          <a:xfrm>
            <a:off x="8293608" y="2468880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293608" y="2651760"/>
            <a:ext cx="960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8293608" y="3456432"/>
            <a:ext cx="2971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 Action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8293608" y="411480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wasted food means fewer needless food-related emissions.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0080" y="5029200"/>
            <a:ext cx="10881360" cy="1051560"/>
          </a:xfrm>
          <a:prstGeom prst="roundRect">
            <a:avLst>
              <a:gd name="adj" fmla="val 11304"/>
            </a:avLst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32688" y="5248656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932688" y="52486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60" dirty="0">
                <a:solidFill>
                  <a:srgbClr val="000000"/>
                </a:solidFill>
              </a:rPr>
              <a:t>🎯</a:t>
            </a:r>
            <a:endParaRPr lang="en-US" sz="1860" dirty="0"/>
          </a:p>
        </p:txBody>
      </p:sp>
      <p:sp>
        <p:nvSpPr>
          <p:cNvPr id="28" name="Text 26"/>
          <p:cNvSpPr/>
          <p:nvPr/>
        </p:nvSpPr>
        <p:spPr>
          <a:xfrm>
            <a:off x="1691640" y="5029200"/>
            <a:ext cx="96012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B5E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Target 12.3:  </a:t>
            </a:r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halve per-capita global food waste by 2030. Kulpio goes straight at household waste — the largest, most-forgettable slice.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490472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490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03504" y="950976"/>
            <a:ext cx="10972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it, know what's going off, cook it first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3401568" cy="3703320"/>
          </a:xfrm>
          <a:prstGeom prst="roundRect">
            <a:avLst>
              <a:gd name="adj" fmla="val 349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32688" y="2395728"/>
            <a:ext cx="713232" cy="713232"/>
          </a:xfrm>
          <a:prstGeom prst="ellipse">
            <a:avLst/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32688" y="239572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28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28" dirty="0"/>
          </a:p>
        </p:txBody>
      </p:sp>
      <p:sp>
        <p:nvSpPr>
          <p:cNvPr id="8" name="Shape 6"/>
          <p:cNvSpPr/>
          <p:nvPr/>
        </p:nvSpPr>
        <p:spPr>
          <a:xfrm>
            <a:off x="2926080" y="2432304"/>
            <a:ext cx="640080" cy="640080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43230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000000"/>
                </a:solidFill>
              </a:rPr>
              <a:t>📥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32688" y="338328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in seconds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32688" y="3886200"/>
            <a:ext cx="28803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a barcode, read a label or receipt with AI, or paste a list — no typing marathon.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4370832" y="2103120"/>
            <a:ext cx="3401568" cy="3703320"/>
          </a:xfrm>
          <a:prstGeom prst="roundRect">
            <a:avLst>
              <a:gd name="adj" fmla="val 349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63440" y="2395728"/>
            <a:ext cx="713232" cy="713232"/>
          </a:xfrm>
          <a:prstGeom prst="ellipse">
            <a:avLst/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663440" y="239572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28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28" dirty="0"/>
          </a:p>
        </p:txBody>
      </p:sp>
      <p:sp>
        <p:nvSpPr>
          <p:cNvPr id="15" name="Shape 13"/>
          <p:cNvSpPr/>
          <p:nvPr/>
        </p:nvSpPr>
        <p:spPr>
          <a:xfrm>
            <a:off x="6656832" y="2432304"/>
            <a:ext cx="640080" cy="640080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16" name="Text 14"/>
          <p:cNvSpPr/>
          <p:nvPr/>
        </p:nvSpPr>
        <p:spPr>
          <a:xfrm>
            <a:off x="6656832" y="243230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000000"/>
                </a:solidFill>
              </a:rPr>
              <a:t>⏳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4663440" y="338328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what expires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663440" y="3886200"/>
            <a:ext cx="28803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Printed dates beat estimates. Live freshness colours and a 'week-ahead' strip.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8101584" y="2103120"/>
            <a:ext cx="3401568" cy="3703320"/>
          </a:xfrm>
          <a:prstGeom prst="roundRect">
            <a:avLst>
              <a:gd name="adj" fmla="val 349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394192" y="2395728"/>
            <a:ext cx="713232" cy="713232"/>
          </a:xfrm>
          <a:prstGeom prst="ellipse">
            <a:avLst/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394192" y="239572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28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28" dirty="0"/>
          </a:p>
        </p:txBody>
      </p:sp>
      <p:sp>
        <p:nvSpPr>
          <p:cNvPr id="22" name="Shape 20"/>
          <p:cNvSpPr/>
          <p:nvPr/>
        </p:nvSpPr>
        <p:spPr>
          <a:xfrm>
            <a:off x="10387584" y="2432304"/>
            <a:ext cx="640080" cy="640080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23" name="Text 21"/>
          <p:cNvSpPr/>
          <p:nvPr/>
        </p:nvSpPr>
        <p:spPr>
          <a:xfrm>
            <a:off x="10387584" y="243230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000000"/>
                </a:solidFill>
              </a:rPr>
              <a:t>🍳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8394192" y="338328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it in time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8394192" y="3886200"/>
            <a:ext cx="28803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 what's going off first; mark Used / Wasted / Froze and watch the money you save.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-1737360"/>
            <a:ext cx="5120640" cy="5120640"/>
          </a:xfrm>
          <a:prstGeom prst="ellipse">
            <a:avLst/>
          </a:prstGeom>
          <a:solidFill>
            <a:srgbClr val="1F5D3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00" y="2651760"/>
            <a:ext cx="2011680" cy="2011680"/>
          </a:xfrm>
          <a:prstGeom prst="ellipse">
            <a:avLst/>
          </a:prstGeom>
          <a:solidFill>
            <a:srgbClr val="18301C"/>
          </a:solidFill>
          <a:ln/>
        </p:spPr>
      </p:sp>
      <p:sp>
        <p:nvSpPr>
          <p:cNvPr id="4" name="Shape 2"/>
          <p:cNvSpPr/>
          <p:nvPr/>
        </p:nvSpPr>
        <p:spPr>
          <a:xfrm>
            <a:off x="10195560" y="1600200"/>
            <a:ext cx="457200" cy="457200"/>
          </a:xfrm>
          <a:prstGeom prst="ellipse">
            <a:avLst/>
          </a:prstGeom>
          <a:solidFill>
            <a:srgbClr val="B5E048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502920"/>
            <a:ext cx="1243584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502920"/>
            <a:ext cx="12435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03504" y="950976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app, offline, on any phone</a:t>
            </a:r>
            <a:endParaRPr lang="en-US" sz="3300" dirty="0"/>
          </a:p>
        </p:txBody>
      </p:sp>
      <p:sp>
        <p:nvSpPr>
          <p:cNvPr id="8" name="Shape 6"/>
          <p:cNvSpPr/>
          <p:nvPr/>
        </p:nvSpPr>
        <p:spPr>
          <a:xfrm>
            <a:off x="896112" y="1810512"/>
            <a:ext cx="2176912" cy="4562856"/>
          </a:xfrm>
          <a:prstGeom prst="roundRect">
            <a:avLst>
              <a:gd name="adj" fmla="val 6721"/>
            </a:avLst>
          </a:prstGeom>
          <a:solidFill>
            <a:srgbClr val="05100A"/>
          </a:solidFill>
          <a:ln/>
          <a:effectLst>
            <a:outerShdw sx="100000" sy="100000" kx="0" ky="0" algn="bl" rotWithShape="0" blurRad="177800" dist="63500" dir="5400000">
              <a:srgbClr val="000000">
                <a:alpha val="28000"/>
              </a:srgbClr>
            </a:outerShdw>
          </a:effectLst>
        </p:spPr>
      </p:sp>
      <p:pic>
        <p:nvPicPr>
          <p:cNvPr id="9" name="Image 0" descr="/tmp/claude-0/-home-user-kulpio/cf44c086-5ab5-569b-8ab9-43d11bcfa910/scratchpad/shots/sc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74520"/>
            <a:ext cx="2048896" cy="44348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4462272" y="1810512"/>
            <a:ext cx="2176912" cy="4562856"/>
          </a:xfrm>
          <a:prstGeom prst="roundRect">
            <a:avLst>
              <a:gd name="adj" fmla="val 6721"/>
            </a:avLst>
          </a:prstGeom>
          <a:solidFill>
            <a:srgbClr val="05100A"/>
          </a:solidFill>
          <a:ln/>
          <a:effectLst>
            <a:outerShdw sx="100000" sy="100000" kx="0" ky="0" algn="bl" rotWithShape="0" blurRad="177800" dist="63500" dir="5400000">
              <a:srgbClr val="000000">
                <a:alpha val="28000"/>
              </a:srgbClr>
            </a:outerShdw>
          </a:effectLst>
        </p:spPr>
      </p:sp>
      <p:pic>
        <p:nvPicPr>
          <p:cNvPr id="11" name="Image 1" descr="/tmp/claude-0/-home-user-kulpio/cf44c086-5ab5-569b-8ab9-43d11bcfa910/scratchpad/shots/impac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1874520"/>
            <a:ext cx="2048896" cy="44348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8028432" y="1810512"/>
            <a:ext cx="2176912" cy="4562856"/>
          </a:xfrm>
          <a:prstGeom prst="roundRect">
            <a:avLst>
              <a:gd name="adj" fmla="val 6721"/>
            </a:avLst>
          </a:prstGeom>
          <a:solidFill>
            <a:srgbClr val="05100A"/>
          </a:solidFill>
          <a:ln/>
          <a:effectLst>
            <a:outerShdw sx="100000" sy="100000" kx="0" ky="0" algn="bl" rotWithShape="0" blurRad="177800" dist="63500" dir="5400000">
              <a:srgbClr val="000000">
                <a:alpha val="28000"/>
              </a:srgbClr>
            </a:outerShdw>
          </a:effectLst>
        </p:spPr>
      </p:sp>
      <p:pic>
        <p:nvPicPr>
          <p:cNvPr id="13" name="Image 2" descr="/tmp/claude-0/-home-user-kulpio/cf44c086-5ab5-569b-8ab9-43d11bcfa910/scratchpad/shots/ch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1874520"/>
            <a:ext cx="2048896" cy="443484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960120" y="6419088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→ product card
</a:t>
            </a:r>
            <a:pPr algn="ctr" indent="0" marL="0">
              <a:buNone/>
            </a:pPr>
            <a:r>
              <a:rPr lang="en-US" sz="1100" dirty="0">
                <a:solidFill>
                  <a:srgbClr val="9FB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additives, Nutri-Score, verdict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4526280" y="6419088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impact
</a:t>
            </a:r>
            <a:pPr algn="ctr" indent="0" marL="0">
              <a:buNone/>
            </a:pPr>
            <a:r>
              <a:rPr lang="en-US" sz="1100" dirty="0">
                <a:solidFill>
                  <a:srgbClr val="9FB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 cut &amp; money saved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8092440" y="6419088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fridge
</a:t>
            </a:r>
            <a:pPr algn="ctr" indent="0" marL="0">
              <a:buNone/>
            </a:pPr>
            <a:r>
              <a:rPr lang="en-US" sz="1100" dirty="0">
                <a:solidFill>
                  <a:srgbClr val="9FB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members, activity &amp; chat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490472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490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03504" y="950976"/>
            <a:ext cx="10972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Kulpio does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3401568" cy="1847088"/>
          </a:xfrm>
          <a:prstGeom prst="roundRect">
            <a:avLst>
              <a:gd name="adj" fmla="val 64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286000"/>
            <a:ext cx="603504" cy="603504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28600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📷</a:t>
            </a:r>
            <a:endParaRPr lang="en-US" sz="1980" dirty="0"/>
          </a:p>
        </p:txBody>
      </p:sp>
      <p:sp>
        <p:nvSpPr>
          <p:cNvPr id="8" name="Text 6"/>
          <p:cNvSpPr/>
          <p:nvPr/>
        </p:nvSpPr>
        <p:spPr>
          <a:xfrm>
            <a:off x="914400" y="2944368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Effortless input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3310128"/>
            <a:ext cx="29077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Barcode, AI label &amp; receipt scan, or paste a list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70832" y="2011680"/>
            <a:ext cx="3401568" cy="1847088"/>
          </a:xfrm>
          <a:prstGeom prst="roundRect">
            <a:avLst>
              <a:gd name="adj" fmla="val 64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45152" y="2286000"/>
            <a:ext cx="603504" cy="603504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12" name="Text 10"/>
          <p:cNvSpPr/>
          <p:nvPr/>
        </p:nvSpPr>
        <p:spPr>
          <a:xfrm>
            <a:off x="4645152" y="228600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🧊</a:t>
            </a:r>
            <a:endParaRPr lang="en-US" sz="1980" dirty="0"/>
          </a:p>
        </p:txBody>
      </p:sp>
      <p:sp>
        <p:nvSpPr>
          <p:cNvPr id="13" name="Text 11"/>
          <p:cNvSpPr/>
          <p:nvPr/>
        </p:nvSpPr>
        <p:spPr>
          <a:xfrm>
            <a:off x="4645152" y="2944368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sections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645152" y="3310128"/>
            <a:ext cx="29077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Fridge, freezer &amp; pantry with live freshness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101584" y="2011680"/>
            <a:ext cx="3401568" cy="1847088"/>
          </a:xfrm>
          <a:prstGeom prst="roundRect">
            <a:avLst>
              <a:gd name="adj" fmla="val 64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75904" y="2286000"/>
            <a:ext cx="603504" cy="603504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17" name="Text 15"/>
          <p:cNvSpPr/>
          <p:nvPr/>
        </p:nvSpPr>
        <p:spPr>
          <a:xfrm>
            <a:off x="8375904" y="228600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🍅</a:t>
            </a:r>
            <a:endParaRPr lang="en-US" sz="1980" dirty="0"/>
          </a:p>
        </p:txBody>
      </p:sp>
      <p:sp>
        <p:nvSpPr>
          <p:cNvPr id="18" name="Text 16"/>
          <p:cNvSpPr/>
          <p:nvPr/>
        </p:nvSpPr>
        <p:spPr>
          <a:xfrm>
            <a:off x="8375904" y="2944368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Recipes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375904" y="3310128"/>
            <a:ext cx="29077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 from your ingredients, with nutrition estimates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" y="4114800"/>
            <a:ext cx="3401568" cy="1847088"/>
          </a:xfrm>
          <a:prstGeom prst="roundRect">
            <a:avLst>
              <a:gd name="adj" fmla="val 64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14400" y="4389120"/>
            <a:ext cx="603504" cy="603504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438912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👥</a:t>
            </a:r>
            <a:endParaRPr lang="en-US" sz="1980" dirty="0"/>
          </a:p>
        </p:txBody>
      </p:sp>
      <p:sp>
        <p:nvSpPr>
          <p:cNvPr id="23" name="Text 21"/>
          <p:cNvSpPr/>
          <p:nvPr/>
        </p:nvSpPr>
        <p:spPr>
          <a:xfrm>
            <a:off x="914400" y="5047488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fridge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14400" y="5413248"/>
            <a:ext cx="29077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code links a household + activity feed &amp; chat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4370832" y="4114800"/>
            <a:ext cx="3401568" cy="1847088"/>
          </a:xfrm>
          <a:prstGeom prst="roundRect">
            <a:avLst>
              <a:gd name="adj" fmla="val 64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645152" y="4389120"/>
            <a:ext cx="603504" cy="603504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27" name="Text 25"/>
          <p:cNvSpPr/>
          <p:nvPr/>
        </p:nvSpPr>
        <p:spPr>
          <a:xfrm>
            <a:off x="4645152" y="438912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🏆</a:t>
            </a:r>
            <a:endParaRPr lang="en-US" sz="1980" dirty="0"/>
          </a:p>
        </p:txBody>
      </p:sp>
      <p:sp>
        <p:nvSpPr>
          <p:cNvPr id="28" name="Text 26"/>
          <p:cNvSpPr/>
          <p:nvPr/>
        </p:nvSpPr>
        <p:spPr>
          <a:xfrm>
            <a:off x="4645152" y="5047488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4645152" y="5413248"/>
            <a:ext cx="29077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Achievements, XP levels, monthly recap &amp; impact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8101584" y="4114800"/>
            <a:ext cx="3401568" cy="1847088"/>
          </a:xfrm>
          <a:prstGeom prst="roundRect">
            <a:avLst>
              <a:gd name="adj" fmla="val 64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375904" y="4389120"/>
            <a:ext cx="603504" cy="603504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32" name="Text 30"/>
          <p:cNvSpPr/>
          <p:nvPr/>
        </p:nvSpPr>
        <p:spPr>
          <a:xfrm>
            <a:off x="8375904" y="438912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🌍</a:t>
            </a:r>
            <a:endParaRPr lang="en-US" sz="1980" dirty="0"/>
          </a:p>
        </p:txBody>
      </p:sp>
      <p:sp>
        <p:nvSpPr>
          <p:cNvPr id="33" name="Text 31"/>
          <p:cNvSpPr/>
          <p:nvPr/>
        </p:nvSpPr>
        <p:spPr>
          <a:xfrm>
            <a:off x="8375904" y="5047488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languages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8375904" y="5413248"/>
            <a:ext cx="29077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RTL support; installs to the home screen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860804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8608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03504" y="950976"/>
            <a:ext cx="11155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Kulpio decides when food expires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Printed dates are ground truth — Kulpio only estimates when there's no date to read.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331720"/>
            <a:ext cx="7360920" cy="1097280"/>
          </a:xfrm>
          <a:prstGeom prst="roundRect">
            <a:avLst>
              <a:gd name="adj" fmla="val 10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96112" y="2578608"/>
            <a:ext cx="603504" cy="603504"/>
          </a:xfrm>
          <a:prstGeom prst="ellipse">
            <a:avLst/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96112" y="257860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16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16" dirty="0"/>
          </a:p>
        </p:txBody>
      </p:sp>
      <p:sp>
        <p:nvSpPr>
          <p:cNvPr id="9" name="Text 7"/>
          <p:cNvSpPr/>
          <p:nvPr/>
        </p:nvSpPr>
        <p:spPr>
          <a:xfrm>
            <a:off x="1691640" y="2478024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Printed date wins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4343400" y="2478024"/>
            <a:ext cx="3520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from the pack (OCR + model) or typed by you. Always takes priority.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42416" y="33924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1E8D8"/>
                </a:solidFill>
              </a:rPr>
              <a:t>▼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630168"/>
            <a:ext cx="7360920" cy="1097280"/>
          </a:xfrm>
          <a:prstGeom prst="roundRect">
            <a:avLst>
              <a:gd name="adj" fmla="val 10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96112" y="3877056"/>
            <a:ext cx="603504" cy="603504"/>
          </a:xfrm>
          <a:prstGeom prst="ellipse">
            <a:avLst/>
          </a:prstGeom>
          <a:solidFill>
            <a:srgbClr val="2C6E3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96112" y="38770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16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16" dirty="0"/>
          </a:p>
        </p:txBody>
      </p:sp>
      <p:sp>
        <p:nvSpPr>
          <p:cNvPr id="15" name="Text 13"/>
          <p:cNvSpPr/>
          <p:nvPr/>
        </p:nvSpPr>
        <p:spPr>
          <a:xfrm>
            <a:off x="1691640" y="3776472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shelf-life table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4343400" y="3776472"/>
            <a:ext cx="3520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per-food estimate, adjusted for storage (freezer +~90 d; opened shortens).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42416" y="469087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1E8D8"/>
                </a:solidFill>
              </a:rPr>
              <a:t>▼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4928616"/>
            <a:ext cx="7360920" cy="1097280"/>
          </a:xfrm>
          <a:prstGeom prst="roundRect">
            <a:avLst>
              <a:gd name="adj" fmla="val 10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96112" y="5175504"/>
            <a:ext cx="603504" cy="603504"/>
          </a:xfrm>
          <a:prstGeom prst="ellipse">
            <a:avLst/>
          </a:prstGeom>
          <a:solidFill>
            <a:srgbClr val="5B6B57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96112" y="5175504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16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16" dirty="0"/>
          </a:p>
        </p:txBody>
      </p:sp>
      <p:sp>
        <p:nvSpPr>
          <p:cNvPr id="21" name="Text 19"/>
          <p:cNvSpPr/>
          <p:nvPr/>
        </p:nvSpPr>
        <p:spPr>
          <a:xfrm>
            <a:off x="1691640" y="5074920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refine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4343400" y="5074920"/>
            <a:ext cx="3520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online, the model refines the estimate from the product name.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8183880" y="2331720"/>
            <a:ext cx="3337560" cy="3739896"/>
          </a:xfrm>
          <a:prstGeom prst="roundRect">
            <a:avLst>
              <a:gd name="adj" fmla="val 3562"/>
            </a:avLst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8458200" y="2578608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E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degrades gracefully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8458200" y="3200400"/>
            <a:ext cx="2788920" cy="713232"/>
          </a:xfrm>
          <a:prstGeom prst="roundRect">
            <a:avLst>
              <a:gd name="adj" fmla="val 12821"/>
            </a:avLst>
          </a:prstGeom>
          <a:solidFill>
            <a:srgbClr val="2C6E3F"/>
          </a:solidFill>
          <a:ln/>
        </p:spPr>
      </p:sp>
      <p:sp>
        <p:nvSpPr>
          <p:cNvPr id="26" name="Text 24"/>
          <p:cNvSpPr/>
          <p:nvPr/>
        </p:nvSpPr>
        <p:spPr>
          <a:xfrm>
            <a:off x="8613648" y="3200400"/>
            <a:ext cx="2514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cloud AI model  (top quality)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458200" y="3858768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5E048"/>
                </a:solidFill>
              </a:rPr>
              <a:t>↓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458200" y="4114800"/>
            <a:ext cx="2788920" cy="713232"/>
          </a:xfrm>
          <a:prstGeom prst="roundRect">
            <a:avLst>
              <a:gd name="adj" fmla="val 12821"/>
            </a:avLst>
          </a:prstGeom>
          <a:solidFill>
            <a:srgbClr val="2C6E3F"/>
          </a:solidFill>
          <a:ln/>
        </p:spPr>
      </p:sp>
      <p:sp>
        <p:nvSpPr>
          <p:cNvPr id="29" name="Text 27"/>
          <p:cNvSpPr/>
          <p:nvPr/>
        </p:nvSpPr>
        <p:spPr>
          <a:xfrm>
            <a:off x="8613648" y="4114800"/>
            <a:ext cx="2514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Cloudflare Workers AI — Llama  (free)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458200" y="4773168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5E048"/>
                </a:solidFill>
              </a:rPr>
              <a:t>↓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8458200" y="5029200"/>
            <a:ext cx="2788920" cy="713232"/>
          </a:xfrm>
          <a:prstGeom prst="roundRect">
            <a:avLst>
              <a:gd name="adj" fmla="val 12821"/>
            </a:avLst>
          </a:prstGeom>
          <a:solidFill>
            <a:srgbClr val="14301C"/>
          </a:solidFill>
          <a:ln/>
        </p:spPr>
      </p:sp>
      <p:sp>
        <p:nvSpPr>
          <p:cNvPr id="32" name="Text 30"/>
          <p:cNvSpPr/>
          <p:nvPr/>
        </p:nvSpPr>
        <p:spPr>
          <a:xfrm>
            <a:off x="8613648" y="5029200"/>
            <a:ext cx="2514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error — never blocks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2231136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03504" y="950976"/>
            <a:ext cx="11155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as one offline file + one worker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5303520" cy="3246120"/>
          </a:xfrm>
          <a:prstGeom prst="roundRect">
            <a:avLst>
              <a:gd name="adj" fmla="val 366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057400"/>
            <a:ext cx="5303520" cy="566928"/>
          </a:xfrm>
          <a:prstGeom prst="roundRect">
            <a:avLst>
              <a:gd name="adj" fmla="val 20968"/>
            </a:avLst>
          </a:prstGeom>
          <a:solidFill>
            <a:srgbClr val="1F5D33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05740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  Client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32688" y="2816352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E048"/>
                </a:solidFill>
              </a:rPr>
              <a:t>•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07008" y="281635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static HTML  </a:t>
            </a:r>
            <a:pPr indent="0" marL="0"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~1.3 MB — markup, CSS, JS, 33 langs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932688" y="34198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E048"/>
                </a:solidFill>
              </a:rPr>
              <a:t>•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07008" y="341985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build step  </a:t>
            </a:r>
            <a:pPr indent="0" marL="0"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no framework, no bundler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932688" y="40233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E048"/>
                </a:solidFill>
              </a:rPr>
              <a:t>•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207008" y="40233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worker  </a:t>
            </a:r>
            <a:pPr indent="0" marL="0"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precache → fully offline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932688" y="4626864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E048"/>
                </a:solidFill>
              </a:rPr>
              <a:t>•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07008" y="462686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Crypto  </a:t>
            </a:r>
            <a:pPr indent="0" marL="0"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hashing &amp; secure tokens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217920" y="2057400"/>
            <a:ext cx="5303520" cy="3246120"/>
          </a:xfrm>
          <a:prstGeom prst="roundRect">
            <a:avLst>
              <a:gd name="adj" fmla="val 366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17920" y="2057400"/>
            <a:ext cx="5303520" cy="566928"/>
          </a:xfrm>
          <a:prstGeom prst="roundRect">
            <a:avLst>
              <a:gd name="adj" fmla="val 20968"/>
            </a:avLst>
          </a:prstGeom>
          <a:solidFill>
            <a:srgbClr val="2C6E3F"/>
          </a:solidFill>
          <a:ln/>
        </p:spPr>
      </p:sp>
      <p:sp>
        <p:nvSpPr>
          <p:cNvPr id="18" name="Text 16"/>
          <p:cNvSpPr/>
          <p:nvPr/>
        </p:nvSpPr>
        <p:spPr>
          <a:xfrm>
            <a:off x="6492240" y="205740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☁️  Backend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510528" y="2816352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E048"/>
                </a:solidFill>
              </a:rPr>
              <a:t>•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784848" y="281635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Cloudflare Worker  </a:t>
            </a:r>
            <a:pPr indent="0" marL="0"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serves the app AND the API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510528" y="34198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E048"/>
                </a:solidFill>
              </a:rPr>
              <a:t>•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784848" y="341985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 (SQLite)  </a:t>
            </a:r>
            <a:pPr indent="0" marL="0"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accounts, sync, households, community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510528" y="40233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E048"/>
                </a:solidFill>
              </a:rPr>
              <a:t>•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784848" y="40233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Push (VAPID)  </a:t>
            </a:r>
            <a:pPr indent="0" marL="0"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daily expiry reminders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510528" y="4626864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E048"/>
                </a:solidFill>
              </a:rPr>
              <a:t>•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784848" y="462686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Rate-limited auth  </a:t>
            </a:r>
            <a:pPr indent="0" marL="0"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PBKDF2 · 5 tries / 15 min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40080" y="5486400"/>
            <a:ext cx="10881360" cy="603504"/>
          </a:xfrm>
          <a:prstGeom prst="roundRect">
            <a:avLst>
              <a:gd name="adj" fmla="val 19697"/>
            </a:avLst>
          </a:prstGeom>
          <a:solidFill>
            <a:srgbClr val="0E1C12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914400" y="5486400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5E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Deploy:  </a:t>
            </a:r>
            <a:pPr indent="0" marL="0">
              <a:buNone/>
            </a:pPr>
            <a:r>
              <a:rPr lang="en-US" sz="1250" dirty="0">
                <a:solidFill>
                  <a:srgbClr val="CBD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Cloudflare Worker serves static assets + API on a single origin — installs from static hosting, runs offline.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2601468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26014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EXISTING APPS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03504" y="950976"/>
            <a:ext cx="10972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Kulpio is different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2743200" cy="731520"/>
          </a:xfrm>
          <a:prstGeom prst="rect">
            <a:avLst/>
          </a:prstGeom>
          <a:solidFill>
            <a:srgbClr val="1F5D33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2148840"/>
            <a:ext cx="259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383280" y="2148840"/>
            <a:ext cx="1600200" cy="731520"/>
          </a:xfrm>
          <a:prstGeom prst="rect">
            <a:avLst/>
          </a:prstGeom>
          <a:solidFill>
            <a:srgbClr val="1F5D33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56432" y="2148840"/>
            <a:ext cx="1453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Offline, no install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983480" y="2148840"/>
            <a:ext cx="1600200" cy="731520"/>
          </a:xfrm>
          <a:prstGeom prst="rect">
            <a:avLst/>
          </a:prstGeom>
          <a:solidFill>
            <a:srgbClr val="1F5D33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56632" y="2148840"/>
            <a:ext cx="1453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label/receipt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583680" y="2148840"/>
            <a:ext cx="1828800" cy="731520"/>
          </a:xfrm>
          <a:prstGeom prst="rect">
            <a:avLst/>
          </a:prstGeom>
          <a:solidFill>
            <a:srgbClr val="1F5D33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56832" y="2148840"/>
            <a:ext cx="16824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fridge + chat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412480" y="2148840"/>
            <a:ext cx="1463040" cy="731520"/>
          </a:xfrm>
          <a:prstGeom prst="rect">
            <a:avLst/>
          </a:prstGeom>
          <a:solidFill>
            <a:srgbClr val="1F5D33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85632" y="2148840"/>
            <a:ext cx="13167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languages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875520" y="2148840"/>
            <a:ext cx="1645920" cy="731520"/>
          </a:xfrm>
          <a:prstGeom prst="rect">
            <a:avLst/>
          </a:prstGeom>
          <a:solidFill>
            <a:srgbClr val="1F5D33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948672" y="2148840"/>
            <a:ext cx="14996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Privacy-first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0080" y="2880360"/>
            <a:ext cx="2743200" cy="731520"/>
          </a:xfrm>
          <a:prstGeom prst="rect">
            <a:avLst/>
          </a:prstGeom>
          <a:solidFill>
            <a:srgbClr val="E9F4CC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3232" y="2880360"/>
            <a:ext cx="259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383280" y="2880360"/>
            <a:ext cx="1600200" cy="731520"/>
          </a:xfrm>
          <a:prstGeom prst="rect">
            <a:avLst/>
          </a:prstGeom>
          <a:solidFill>
            <a:srgbClr val="E9F4CC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456432" y="2880360"/>
            <a:ext cx="1453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983480" y="2880360"/>
            <a:ext cx="1600200" cy="731520"/>
          </a:xfrm>
          <a:prstGeom prst="rect">
            <a:avLst/>
          </a:prstGeom>
          <a:solidFill>
            <a:srgbClr val="E9F4CC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56632" y="2880360"/>
            <a:ext cx="1453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583680" y="2880360"/>
            <a:ext cx="1828800" cy="731520"/>
          </a:xfrm>
          <a:prstGeom prst="rect">
            <a:avLst/>
          </a:prstGeom>
          <a:solidFill>
            <a:srgbClr val="E9F4CC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56832" y="2880360"/>
            <a:ext cx="16824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412480" y="2880360"/>
            <a:ext cx="1463040" cy="731520"/>
          </a:xfrm>
          <a:prstGeom prst="rect">
            <a:avLst/>
          </a:prstGeom>
          <a:solidFill>
            <a:srgbClr val="E9F4CC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485632" y="2880360"/>
            <a:ext cx="13167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9875520" y="2880360"/>
            <a:ext cx="1645920" cy="731520"/>
          </a:xfrm>
          <a:prstGeom prst="rect">
            <a:avLst/>
          </a:prstGeom>
          <a:solidFill>
            <a:srgbClr val="E9F4CC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948672" y="2880360"/>
            <a:ext cx="14996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40080" y="3611880"/>
            <a:ext cx="2743200" cy="731520"/>
          </a:xfrm>
          <a:prstGeom prst="rect">
            <a:avLst/>
          </a:prstGeom>
          <a:solidFill>
            <a:srgbClr val="F7FAF2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3232" y="3611880"/>
            <a:ext cx="259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apps (NoWaste…)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383280" y="3611880"/>
            <a:ext cx="1600200" cy="731520"/>
          </a:xfrm>
          <a:prstGeom prst="rect">
            <a:avLst/>
          </a:prstGeom>
          <a:solidFill>
            <a:srgbClr val="F7FAF2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456432" y="3611880"/>
            <a:ext cx="1453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86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983480" y="3611880"/>
            <a:ext cx="1600200" cy="731520"/>
          </a:xfrm>
          <a:prstGeom prst="rect">
            <a:avLst/>
          </a:prstGeom>
          <a:solidFill>
            <a:srgbClr val="F7FAF2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56632" y="3611880"/>
            <a:ext cx="1453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583680" y="3611880"/>
            <a:ext cx="1828800" cy="731520"/>
          </a:xfrm>
          <a:prstGeom prst="rect">
            <a:avLst/>
          </a:prstGeom>
          <a:solidFill>
            <a:srgbClr val="F7FAF2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656832" y="3611880"/>
            <a:ext cx="16824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86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8412480" y="3611880"/>
            <a:ext cx="1463040" cy="731520"/>
          </a:xfrm>
          <a:prstGeom prst="rect">
            <a:avLst/>
          </a:prstGeom>
          <a:solidFill>
            <a:srgbClr val="F7FAF2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485632" y="3611880"/>
            <a:ext cx="13167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9875520" y="3611880"/>
            <a:ext cx="1645920" cy="731520"/>
          </a:xfrm>
          <a:prstGeom prst="rect">
            <a:avLst/>
          </a:prstGeom>
          <a:solidFill>
            <a:srgbClr val="F7FAF2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948672" y="3611880"/>
            <a:ext cx="14996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varies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40080" y="4343400"/>
            <a:ext cx="27432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3232" y="4343400"/>
            <a:ext cx="259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Good To Go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3383280" y="4343400"/>
            <a:ext cx="16002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56432" y="4343400"/>
            <a:ext cx="1453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86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4983480" y="4343400"/>
            <a:ext cx="16002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056632" y="4343400"/>
            <a:ext cx="1453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86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6583680" y="4343400"/>
            <a:ext cx="18288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56832" y="4343400"/>
            <a:ext cx="16824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86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8412480" y="4343400"/>
            <a:ext cx="14630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485632" y="4343400"/>
            <a:ext cx="13167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9875520" y="4343400"/>
            <a:ext cx="16459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948672" y="4343400"/>
            <a:ext cx="14996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640080" y="5074920"/>
            <a:ext cx="2743200" cy="731520"/>
          </a:xfrm>
          <a:prstGeom prst="rect">
            <a:avLst/>
          </a:prstGeom>
          <a:solidFill>
            <a:srgbClr val="F7FAF2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13232" y="5074920"/>
            <a:ext cx="259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Whisk / Samsung Food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3383280" y="5074920"/>
            <a:ext cx="1600200" cy="731520"/>
          </a:xfrm>
          <a:prstGeom prst="rect">
            <a:avLst/>
          </a:prstGeom>
          <a:solidFill>
            <a:srgbClr val="F7FAF2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456432" y="5074920"/>
            <a:ext cx="1453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86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4983480" y="5074920"/>
            <a:ext cx="1600200" cy="731520"/>
          </a:xfrm>
          <a:prstGeom prst="rect">
            <a:avLst/>
          </a:prstGeom>
          <a:solidFill>
            <a:srgbClr val="F7FAF2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056632" y="5074920"/>
            <a:ext cx="1453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6583680" y="5074920"/>
            <a:ext cx="1828800" cy="731520"/>
          </a:xfrm>
          <a:prstGeom prst="rect">
            <a:avLst/>
          </a:prstGeom>
          <a:solidFill>
            <a:srgbClr val="F7FAF2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656832" y="5074920"/>
            <a:ext cx="16824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86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8412480" y="5074920"/>
            <a:ext cx="1463040" cy="731520"/>
          </a:xfrm>
          <a:prstGeom prst="rect">
            <a:avLst/>
          </a:prstGeom>
          <a:solidFill>
            <a:srgbClr val="F7FAF2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485632" y="5074920"/>
            <a:ext cx="13167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9875520" y="5074920"/>
            <a:ext cx="1645920" cy="731520"/>
          </a:xfrm>
          <a:prstGeom prst="rect">
            <a:avLst/>
          </a:prstGeom>
          <a:solidFill>
            <a:srgbClr val="F7FAF2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9948672" y="5074920"/>
            <a:ext cx="14996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cloud-first</a:t>
            </a:r>
            <a:endParaRPr lang="en-US" sz="1300" dirty="0"/>
          </a:p>
        </p:txBody>
      </p:sp>
      <p:sp>
        <p:nvSpPr>
          <p:cNvPr id="65" name="Text 63"/>
          <p:cNvSpPr/>
          <p:nvPr/>
        </p:nvSpPr>
        <p:spPr>
          <a:xfrm>
            <a:off x="640080" y="59893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combination</a:t>
            </a:r>
            <a:pPr indent="0" marL="0">
              <a:buNone/>
            </a:pPr>
            <a:r>
              <a:rPr lang="en-US" sz="1400" i="1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offline single-file PWA + AI input + a social shared fridge + privacy — is the edge.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2724912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2724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&amp; SECURITY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03504" y="950976"/>
            <a:ext cx="11155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by design, hardened by default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5212080" cy="1572768"/>
          </a:xfrm>
          <a:prstGeom prst="roundRect">
            <a:avLst>
              <a:gd name="adj" fmla="val 75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587752"/>
            <a:ext cx="603504" cy="603504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587752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🔒</a:t>
            </a:r>
            <a:endParaRPr lang="en-US" sz="1980" dirty="0"/>
          </a:p>
        </p:txBody>
      </p:sp>
      <p:sp>
        <p:nvSpPr>
          <p:cNvPr id="8" name="Text 6"/>
          <p:cNvSpPr/>
          <p:nvPr/>
        </p:nvSpPr>
        <p:spPr>
          <a:xfrm>
            <a:off x="1737360" y="235915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Local-first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737360" y="2761488"/>
            <a:ext cx="3977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fridge stays in the browser — nothing leaves unless you choose a networked feature.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0" y="2103120"/>
            <a:ext cx="5212080" cy="1572768"/>
          </a:xfrm>
          <a:prstGeom prst="roundRect">
            <a:avLst>
              <a:gd name="adj" fmla="val 75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0" y="2587752"/>
            <a:ext cx="603504" cy="603504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0" y="2587752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📤</a:t>
            </a:r>
            <a:endParaRPr lang="en-US" sz="1980" dirty="0"/>
          </a:p>
        </p:txBody>
      </p:sp>
      <p:sp>
        <p:nvSpPr>
          <p:cNvPr id="13" name="Text 11"/>
          <p:cNvSpPr/>
          <p:nvPr/>
        </p:nvSpPr>
        <p:spPr>
          <a:xfrm>
            <a:off x="7223760" y="235915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GDPR export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223760" y="2761488"/>
            <a:ext cx="3977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tap downloads everything the app holds about you as JSON.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931920"/>
            <a:ext cx="5212080" cy="1572768"/>
          </a:xfrm>
          <a:prstGeom prst="roundRect">
            <a:avLst>
              <a:gd name="adj" fmla="val 75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914400" y="4416552"/>
            <a:ext cx="603504" cy="603504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4416552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🗑️</a:t>
            </a:r>
            <a:endParaRPr lang="en-US" sz="1980" dirty="0"/>
          </a:p>
        </p:txBody>
      </p:sp>
      <p:sp>
        <p:nvSpPr>
          <p:cNvPr id="18" name="Text 16"/>
          <p:cNvSpPr/>
          <p:nvPr/>
        </p:nvSpPr>
        <p:spPr>
          <a:xfrm>
            <a:off x="1737360" y="418795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deletion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737360" y="4590288"/>
            <a:ext cx="3977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account wipes the server account, sessions &amp; synced data.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126480" y="3931920"/>
            <a:ext cx="5212080" cy="1572768"/>
          </a:xfrm>
          <a:prstGeom prst="roundRect">
            <a:avLst>
              <a:gd name="adj" fmla="val 75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00800" y="4416552"/>
            <a:ext cx="603504" cy="603504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0" y="4416552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🛡️</a:t>
            </a:r>
            <a:endParaRPr lang="en-US" sz="1980" dirty="0"/>
          </a:p>
        </p:txBody>
      </p:sp>
      <p:sp>
        <p:nvSpPr>
          <p:cNvPr id="23" name="Text 21"/>
          <p:cNvSpPr/>
          <p:nvPr/>
        </p:nvSpPr>
        <p:spPr>
          <a:xfrm>
            <a:off x="7223760" y="418795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Hardened auth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223760" y="4590288"/>
            <a:ext cx="3977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PBKDF2 hashing, opaque tokens, and login rate-limiting (5 / 15 min).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367028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3670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03504" y="950976"/>
            <a:ext cx="11155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to last — and tested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2606040" cy="1828800"/>
          </a:xfrm>
          <a:prstGeom prst="roundRect">
            <a:avLst>
              <a:gd name="adj" fmla="val 6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286000"/>
            <a:ext cx="2240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22960" y="3154680"/>
            <a:ext cx="2286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HTML file — no build step, no framework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456432" y="2103120"/>
            <a:ext cx="2606040" cy="1828800"/>
          </a:xfrm>
          <a:prstGeom prst="roundRect">
            <a:avLst>
              <a:gd name="adj" fmla="val 6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39312" y="2286000"/>
            <a:ext cx="2240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639312" y="3154680"/>
            <a:ext cx="2286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languages, with full right-to-left support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72784" y="2103120"/>
            <a:ext cx="2606040" cy="1828800"/>
          </a:xfrm>
          <a:prstGeom prst="roundRect">
            <a:avLst>
              <a:gd name="adj" fmla="val 6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55664" y="2286000"/>
            <a:ext cx="2240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300+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6455664" y="3154680"/>
            <a:ext cx="2286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checks run offline on every push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9089136" y="2103120"/>
            <a:ext cx="2606040" cy="1828800"/>
          </a:xfrm>
          <a:prstGeom prst="roundRect">
            <a:avLst>
              <a:gd name="adj" fmla="val 6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72016" y="2286000"/>
            <a:ext cx="2240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9272016" y="3154680"/>
            <a:ext cx="2286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suites: structure, smoke, worker auth &amp; sync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0080" y="4343400"/>
            <a:ext cx="10881360" cy="786384"/>
          </a:xfrm>
          <a:prstGeom prst="roundRect">
            <a:avLst>
              <a:gd name="adj" fmla="val 151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343400"/>
            <a:ext cx="10332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push runs the full suite in CI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text guard-rails, a 300+-check headless Playwright smoke test that runs the app fully offline, and Node tests for auth, push/cron and household-merge.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5285232"/>
            <a:ext cx="10881360" cy="786384"/>
          </a:xfrm>
          <a:prstGeom prst="roundRect">
            <a:avLst>
              <a:gd name="adj" fmla="val 15116"/>
            </a:avLst>
          </a:prstGeom>
          <a:solidFill>
            <a:srgbClr val="0E1C12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14400" y="5285232"/>
            <a:ext cx="10332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5E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degrades gracefully:  </a:t>
            </a:r>
            <a:pPr indent="0" marL="0">
              <a:buNone/>
            </a:pPr>
            <a:r>
              <a:rPr lang="en-US" sz="1300" dirty="0">
                <a:solidFill>
                  <a:srgbClr val="CBD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cloud model → free Cloudflare Workers AI (Llama) → clean error. The app never blocks on AI.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860804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8608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JOURNEY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03504" y="950976"/>
            <a:ext cx="11155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evolved — and what I had to solve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615184" cy="374904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468880"/>
            <a:ext cx="658368" cy="658368"/>
          </a:xfrm>
          <a:prstGeom prst="ellipse">
            <a:avLst/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14400" y="24688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72" dirty="0"/>
          </a:p>
        </p:txBody>
      </p:sp>
      <p:sp>
        <p:nvSpPr>
          <p:cNvPr id="8" name="Text 6"/>
          <p:cNvSpPr/>
          <p:nvPr/>
        </p:nvSpPr>
        <p:spPr>
          <a:xfrm>
            <a:off x="896112" y="324612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core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896112" y="3703320"/>
            <a:ext cx="21579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Single-file PWA + shelf-life table.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96112" y="4434840"/>
            <a:ext cx="2103120" cy="1298448"/>
          </a:xfrm>
          <a:prstGeom prst="roundRect">
            <a:avLst>
              <a:gd name="adj" fmla="val 7042"/>
            </a:avLst>
          </a:prstGeom>
          <a:solidFill>
            <a:srgbClr val="E9F4CC"/>
          </a:solidFill>
          <a:ln/>
        </p:spPr>
      </p:sp>
      <p:sp>
        <p:nvSpPr>
          <p:cNvPr id="11" name="Text 9"/>
          <p:cNvSpPr/>
          <p:nvPr/>
        </p:nvSpPr>
        <p:spPr>
          <a:xfrm>
            <a:off x="1042416" y="4526280"/>
            <a:ext cx="1828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spc="50" kern="0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solved
</a:t>
            </a:r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 to run with no network → service-worker precache.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92424" y="2194560"/>
            <a:ext cx="2615184" cy="374904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66744" y="2468880"/>
            <a:ext cx="658368" cy="658368"/>
          </a:xfrm>
          <a:prstGeom prst="ellipse">
            <a:avLst/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666744" y="24688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72" dirty="0"/>
          </a:p>
        </p:txBody>
      </p:sp>
      <p:sp>
        <p:nvSpPr>
          <p:cNvPr id="15" name="Text 13"/>
          <p:cNvSpPr/>
          <p:nvPr/>
        </p:nvSpPr>
        <p:spPr>
          <a:xfrm>
            <a:off x="3648456" y="324612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Trustworthy dates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3648456" y="3703320"/>
            <a:ext cx="21579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label reading + estimates.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3648456" y="4434840"/>
            <a:ext cx="2103120" cy="1298448"/>
          </a:xfrm>
          <a:prstGeom prst="roundRect">
            <a:avLst>
              <a:gd name="adj" fmla="val 7042"/>
            </a:avLst>
          </a:prstGeom>
          <a:solidFill>
            <a:srgbClr val="E9F4CC"/>
          </a:solidFill>
          <a:ln/>
        </p:spPr>
      </p:sp>
      <p:sp>
        <p:nvSpPr>
          <p:cNvPr id="18" name="Text 16"/>
          <p:cNvSpPr/>
          <p:nvPr/>
        </p:nvSpPr>
        <p:spPr>
          <a:xfrm>
            <a:off x="3794760" y="4526280"/>
            <a:ext cx="1828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spc="50" kern="0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solved
</a:t>
            </a:r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Estimates felt unreliable → printed dates always win.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144768" y="2194560"/>
            <a:ext cx="2615184" cy="374904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19088" y="2468880"/>
            <a:ext cx="658368" cy="658368"/>
          </a:xfrm>
          <a:prstGeom prst="ellipse">
            <a:avLst/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19088" y="24688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72" dirty="0"/>
          </a:p>
        </p:txBody>
      </p:sp>
      <p:sp>
        <p:nvSpPr>
          <p:cNvPr id="22" name="Text 20"/>
          <p:cNvSpPr/>
          <p:nvPr/>
        </p:nvSpPr>
        <p:spPr>
          <a:xfrm>
            <a:off x="6400800" y="324612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the friction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6400800" y="3703320"/>
            <a:ext cx="21579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Barcode, receipt scan, paste-a-list.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0" y="4434840"/>
            <a:ext cx="2103120" cy="1298448"/>
          </a:xfrm>
          <a:prstGeom prst="roundRect">
            <a:avLst>
              <a:gd name="adj" fmla="val 7042"/>
            </a:avLst>
          </a:prstGeom>
          <a:solidFill>
            <a:srgbClr val="E9F4CC"/>
          </a:solidFill>
          <a:ln/>
        </p:spPr>
      </p:sp>
      <p:sp>
        <p:nvSpPr>
          <p:cNvPr id="25" name="Text 23"/>
          <p:cNvSpPr/>
          <p:nvPr/>
        </p:nvSpPr>
        <p:spPr>
          <a:xfrm>
            <a:off x="6547104" y="4526280"/>
            <a:ext cx="1828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spc="50" kern="0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solved
</a:t>
            </a:r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Typing was tedious → four fast input paths.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897112" y="2194560"/>
            <a:ext cx="2615184" cy="374904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9171432" y="2468880"/>
            <a:ext cx="658368" cy="658368"/>
          </a:xfrm>
          <a:prstGeom prst="ellipse">
            <a:avLst/>
          </a:prstGeom>
          <a:solidFill>
            <a:srgbClr val="F0A830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9171432" y="24688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72" dirty="0"/>
          </a:p>
        </p:txBody>
      </p:sp>
      <p:sp>
        <p:nvSpPr>
          <p:cNvPr id="29" name="Text 27"/>
          <p:cNvSpPr/>
          <p:nvPr/>
        </p:nvSpPr>
        <p:spPr>
          <a:xfrm>
            <a:off x="9153144" y="324612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&amp; safe</a:t>
            </a:r>
            <a:endParaRPr lang="en-US" sz="1550" dirty="0"/>
          </a:p>
        </p:txBody>
      </p:sp>
      <p:sp>
        <p:nvSpPr>
          <p:cNvPr id="30" name="Text 28"/>
          <p:cNvSpPr/>
          <p:nvPr/>
        </p:nvSpPr>
        <p:spPr>
          <a:xfrm>
            <a:off x="9153144" y="3703320"/>
            <a:ext cx="21579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fridge, accounts, GDPR, 33 langs.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9153144" y="4434840"/>
            <a:ext cx="2103120" cy="1298448"/>
          </a:xfrm>
          <a:prstGeom prst="roundRect">
            <a:avLst>
              <a:gd name="adj" fmla="val 7042"/>
            </a:avLst>
          </a:prstGeom>
          <a:solidFill>
            <a:srgbClr val="E9F4CC"/>
          </a:solidFill>
          <a:ln/>
        </p:spPr>
      </p:sp>
      <p:sp>
        <p:nvSpPr>
          <p:cNvPr id="32" name="Text 30"/>
          <p:cNvSpPr/>
          <p:nvPr/>
        </p:nvSpPr>
        <p:spPr>
          <a:xfrm>
            <a:off x="9299448" y="4526280"/>
            <a:ext cx="1828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spc="50" kern="0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solved
</a:t>
            </a:r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phones clobbered data → server-side merge.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860804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8608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03504" y="950976"/>
            <a:ext cx="11155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Kulpio goes from here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6309360" cy="3749040"/>
          </a:xfrm>
          <a:prstGeom prst="roundRect">
            <a:avLst>
              <a:gd name="adj" fmla="val 31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377440"/>
            <a:ext cx="548640" cy="548640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77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🚀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72768" y="2395728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315468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5E048"/>
                </a:solidFill>
              </a:rPr>
              <a:t>→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325880" y="315468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Android app on the Play Store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914400" y="363016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5E048"/>
                </a:solidFill>
              </a:rPr>
              <a:t>→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25880" y="3630168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real user pilot &amp; publish measured results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914400" y="4105656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5E048"/>
                </a:solidFill>
              </a:rPr>
              <a:t>→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25880" y="4105656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the offline shelf-life table against reference data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914400" y="4581144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5E048"/>
                </a:solidFill>
              </a:rPr>
              <a:t>→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325880" y="4581144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verification (add an email provider)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914400" y="5056632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5E048"/>
                </a:solidFill>
              </a:rPr>
              <a:t>→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25880" y="5056632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Field-level merge for multi-device offline edits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14400" y="553212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5E048"/>
                </a:solidFill>
              </a:rPr>
              <a:t>→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325880" y="553212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shareable monthly impact report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7132320" y="2103120"/>
            <a:ext cx="4416552" cy="3749040"/>
          </a:xfrm>
          <a:prstGeom prst="roundRect">
            <a:avLst>
              <a:gd name="adj" fmla="val 3171"/>
            </a:avLst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06640" y="237744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7406640" y="2377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🌍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8065008" y="2395728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5E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&amp; open-source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7406640" y="3200400"/>
            <a:ext cx="393192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Released under the GNU AGPL v3 — free for anyone to use, study and build on.
</a:t>
            </a:r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B5E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vision:</a:t>
            </a:r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help households everywhere waste less food and save money — in their own language.</a:t>
            </a:r>
            <a:endParaRPr lang="en-US" sz="14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1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54480" y="4114800"/>
            <a:ext cx="4754880" cy="4754880"/>
          </a:xfrm>
          <a:prstGeom prst="ellipse">
            <a:avLst/>
          </a:prstGeom>
          <a:solidFill>
            <a:srgbClr val="1F5D33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-1371600"/>
            <a:ext cx="3840480" cy="3840480"/>
          </a:xfrm>
          <a:prstGeom prst="ellipse">
            <a:avLst/>
          </a:prstGeom>
          <a:solidFill>
            <a:srgbClr val="18301C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96012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🍐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777240" y="2148840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 less. Save more. Together.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822960" y="32004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5E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 — a food-freshness tracker that fits in your pocket, in your language.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411480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BF8B2E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411480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12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560320" y="411480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DDA63A"/>
          </a:solidFill>
          <a:ln/>
        </p:spPr>
      </p:sp>
      <p:sp>
        <p:nvSpPr>
          <p:cNvPr id="10" name="Text 8"/>
          <p:cNvSpPr/>
          <p:nvPr/>
        </p:nvSpPr>
        <p:spPr>
          <a:xfrm>
            <a:off x="2560320" y="411480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2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297680" y="411480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3F7E44"/>
          </a:solidFill>
          <a:ln/>
        </p:spPr>
      </p:sp>
      <p:sp>
        <p:nvSpPr>
          <p:cNvPr id="12" name="Text 10"/>
          <p:cNvSpPr/>
          <p:nvPr/>
        </p:nvSpPr>
        <p:spPr>
          <a:xfrm>
            <a:off x="4297680" y="411480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13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22960" y="56692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CBD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Daniil Bejenari   ·   T.L. Orizont · Ceadîr-Lunga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FB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github.com/Gugster777/kulpio   ·   Infomatrix 2026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Kulpio — Infomatrix 2026</dc:title>
  <dc:subject>PptxGenJS Presentation</dc:subject>
  <dc:creator>Daniil Bejenari</dc:creator>
  <cp:lastModifiedBy>Daniil Bejenari</cp:lastModifiedBy>
  <cp:revision>1</cp:revision>
  <dcterms:created xsi:type="dcterms:W3CDTF">2026-07-23T15:36:30Z</dcterms:created>
  <dcterms:modified xsi:type="dcterms:W3CDTF">2026-07-23T15:36:30Z</dcterms:modified>
</cp:coreProperties>
</file>