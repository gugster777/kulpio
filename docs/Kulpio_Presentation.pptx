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€ saved / household / month</c:v>
                </c:pt>
              </c:strCache>
            </c:strRef>
          </c:tx>
          <c:spPr>
            <a:solidFill>
              <a:srgbClr val="F0A830"/>
            </a:solidFill>
            <a:effectLst/>
          </c:spPr>
          <c:invertIfNegative val="0"/>
          <c:dLbls>
            <c:numFmt formatCode="€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624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15%</c:v>
                  </c:pt>
                  <c:pt idx="1">
                    <c:v>20%</c:v>
                  </c:pt>
                  <c:pt idx="2">
                    <c:v>30%</c:v>
                  </c:pt>
                  <c:pt idx="3">
                    <c:v>40%</c:v>
                  </c:pt>
                  <c:pt idx="4">
                    <c:v>50%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5.33</c:v>
                </c:pt>
                <c:pt idx="1">
                  <c:v>7.15</c:v>
                </c:pt>
                <c:pt idx="2">
                  <c:v>10.71</c:v>
                </c:pt>
                <c:pt idx="3">
                  <c:v>14.32</c:v>
                </c:pt>
                <c:pt idx="4">
                  <c:v>17.81</c:v>
                </c:pt>
              </c:numCache>
            </c:numRef>
          </c:val>
        </c:ser>
        <c:dLbls>
          <c:numFmt formatCode="€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624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2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B6B57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B6B57"/>
                    </a:solidFill>
                    <a:latin typeface="Arial"/>
                  </a:rPr>
                  <a:t>Reminder effectiveness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B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Kulpio — a food-freshness tracker PWA. Waste less food, save money, in any of 33 languages. Built for firSTep and Infomatrix 2026.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Personal interest: I built Kulpio because I kept wasting food in my own kitchen — money and a climate cost. I wanted a tool that tells me what to use first.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third of food is wasted; households are a huge share; the cause at home is forgetting. It's an information problem — solvable with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Kulpio aligns with SDG 12 (Responsible Consumption — primary), SDG 2 (Zero Hunger) and SDG 13 (Climate Action). It directly serves UN Target 12.3: halve food waste by 2030.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three-step loop: add with almost no effort, see what's expiring, use it in time — with money-saved feedback that keeps you coming back.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Real screenshots: the scanned product card, the impact screen, and the shared-fridge chat. Everything runs offline from a single HTML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pillars: effortless input, storage sections, recipes, the shared fridge, motivation, and 33-language reach.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Scientific method: printed date beats an offline shelf-life estimate beats an AI refinement. The AI itself degrades gracefully — Claude, then free Llama, then a clean error — so the app never blocks.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Hardware/software: the client is one static HTML file with a service worker; the backend is a single Cloudflare Worker plus D1 (SQLite), Web Push and Web Crypto. No build step, deploys to static hosting.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competitor combines offline-first, AI input, a social shared fridge, 33 languages and privacy. The combination is the differentiator.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Local-first storage, GDPR export and true account deletion, plus hardened, rate-limited auth — a credible privacy posture that judges and users can trust.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Honest framing: the chart is a transparent projection from one stated assumption (reminder effectiveness) — NOT measured data. Real numbers come from a within-subject micro-study measured via the app's CSV export. The two are kept separate.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Iterations and the problems I solved at each: offline (service worker), trustworthy dates (printed beats estimate), low-friction input (four paths), and safe multi-device sync (server-side merge).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Future improvements: run the real pilot, validate the shelf-life table, add email verification, field-level merge, and a shareable impact report. Sustained by a dual-license model.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Kulpio: waste less, save money, in any language — built for the Global Goals. Questions welcome.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737360"/>
            <a:ext cx="5120640" cy="5120640"/>
          </a:xfrm>
          <a:prstGeom prst="ellipse">
            <a:avLst/>
          </a:prstGeom>
          <a:solidFill>
            <a:srgbClr val="1F5D3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2651760"/>
            <a:ext cx="2011680" cy="2011680"/>
          </a:xfrm>
          <a:prstGeom prst="ellipse">
            <a:avLst/>
          </a:prstGeom>
          <a:solidFill>
            <a:srgbClr val="18301C"/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1600200"/>
            <a:ext cx="457200" cy="457200"/>
          </a:xfrm>
          <a:prstGeom prst="ellipse">
            <a:avLst/>
          </a:prstGeom>
          <a:solidFill>
            <a:srgbClr val="B5E048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344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0" dirty="0">
                <a:solidFill>
                  <a:srgbClr val="000000"/>
                </a:solidFill>
              </a:rPr>
              <a:t>🍐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2057400" y="128016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777240" y="27889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less food. Save money. In any language.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777240" y="352044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B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privacy-first Progressive Web App that tracks your fridge, tells you what expires first, and helps you cook it before it's wasted — offline, on any phone, in 33 languages.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77240" y="5257800"/>
            <a:ext cx="3589020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5257800"/>
            <a:ext cx="35890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FIRSTEP × INFOMATRIX 2026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Daniil Bejenari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478024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478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 BUILT THIS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950976"/>
            <a:ext cx="10058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started in my own fridge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6720840" cy="3977640"/>
          </a:xfrm>
          <a:prstGeom prst="roundRect">
            <a:avLst>
              <a:gd name="adj" fmla="val 298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3774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dirty="0">
                <a:solidFill>
                  <a:srgbClr val="000000"/>
                </a:solidFill>
              </a:rPr>
              <a:t>🍐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960120" y="3429000"/>
            <a:ext cx="60350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kept watching good food go bad — bought with the best intentions, pushed to the back of the shelf, forgotten, then thrown out.
</a:t>
            </a:r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bothered me twice over: it's money in the bin, and wasted food is a real climate problem. </a:t>
            </a:r>
            <a:pPr indent="0" marL="0">
              <a:lnSpc>
                <a:spcPct val="118000"/>
              </a:lnSpc>
              <a:buNone/>
            </a:pPr>
            <a:r>
              <a:rPr lang="en-US" sz="16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I built the tool I wanted</a:t>
            </a:r>
            <a:pPr indent="0" marL="0">
              <a:lnSpc>
                <a:spcPct val="118000"/>
              </a:lnSpc>
              <a:buNone/>
            </a:pPr>
            <a:r>
              <a:rPr lang="en-US" sz="16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one that just tells me what to use next, before it's too late.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635240" y="2057400"/>
            <a:ext cx="3913632" cy="3977640"/>
          </a:xfrm>
          <a:prstGeom prst="roundRect">
            <a:avLst>
              <a:gd name="adj" fmla="val 3037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909560" y="23774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 in one line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09560" y="2971800"/>
            <a:ext cx="336499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let me forget the food I already own.”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60804" cy="384048"/>
          </a:xfrm>
          <a:prstGeom prst="roundRect">
            <a:avLst>
              <a:gd name="adj" fmla="val 50000"/>
            </a:avLst>
          </a:prstGeom>
          <a:solidFill>
            <a:srgbClr val="E862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6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third of our food is wasted — mostly at home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01568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96112" y="23317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~1/3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896112" y="3346704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all food produced is lost or wasted (FAO)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370832" y="2103120"/>
            <a:ext cx="3401568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626864" y="23317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4626864" y="3346704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households are among the largest single contributors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101584" y="2103120"/>
            <a:ext cx="3401568" cy="2331720"/>
          </a:xfrm>
          <a:prstGeom prst="roundRect">
            <a:avLst>
              <a:gd name="adj" fmla="val 509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357616" y="2331720"/>
            <a:ext cx="2926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Forget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8357616" y="3346704"/>
            <a:ext cx="29260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main cause at home: bought, forgotten, expired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828032"/>
            <a:ext cx="10881360" cy="1234440"/>
          </a:xfrm>
          <a:prstGeom prst="roundRect">
            <a:avLst>
              <a:gd name="adj" fmla="val 9630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60120" y="5138928"/>
            <a:ext cx="603504" cy="603504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960120" y="513892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💡</a:t>
            </a:r>
            <a:endParaRPr lang="en-US" sz="1980" dirty="0"/>
          </a:p>
        </p:txBody>
      </p:sp>
      <p:sp>
        <p:nvSpPr>
          <p:cNvPr id="17" name="Text 15"/>
          <p:cNvSpPr/>
          <p:nvPr/>
        </p:nvSpPr>
        <p:spPr>
          <a:xfrm>
            <a:off x="1783080" y="4828032"/>
            <a:ext cx="95097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It's an information &amp; attention problem — not a preservation problem.  </a:t>
            </a:r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exactly what an app can fix.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354580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GLOBAL GOALS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 Sustainable Development Goals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20440" cy="269748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31720"/>
            <a:ext cx="960120" cy="960120"/>
          </a:xfrm>
          <a:prstGeom prst="roundRect">
            <a:avLst>
              <a:gd name="adj" fmla="val 13333"/>
            </a:avLst>
          </a:prstGeom>
          <a:solidFill>
            <a:srgbClr val="BF8B2E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468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517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000" dirty="0"/>
          </a:p>
        </p:txBody>
      </p:sp>
      <p:sp>
        <p:nvSpPr>
          <p:cNvPr id="9" name="Shape 7"/>
          <p:cNvSpPr/>
          <p:nvPr/>
        </p:nvSpPr>
        <p:spPr>
          <a:xfrm>
            <a:off x="2057400" y="2395728"/>
            <a:ext cx="1367028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10" name="Text 8"/>
          <p:cNvSpPr/>
          <p:nvPr/>
        </p:nvSpPr>
        <p:spPr>
          <a:xfrm>
            <a:off x="2057400" y="2395728"/>
            <a:ext cx="13670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34564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Consumption &amp; Production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14400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Kulpio's core mission — cut the food households throw away.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329684" y="2057400"/>
            <a:ext cx="3520440" cy="269748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04004" y="2331720"/>
            <a:ext cx="960120" cy="960120"/>
          </a:xfrm>
          <a:prstGeom prst="roundRect">
            <a:avLst>
              <a:gd name="adj" fmla="val 13333"/>
            </a:avLst>
          </a:prstGeom>
          <a:solidFill>
            <a:srgbClr val="DDA63A"/>
          </a:solidFill>
          <a:ln/>
        </p:spPr>
      </p:sp>
      <p:sp>
        <p:nvSpPr>
          <p:cNvPr id="15" name="Text 13"/>
          <p:cNvSpPr/>
          <p:nvPr/>
        </p:nvSpPr>
        <p:spPr>
          <a:xfrm>
            <a:off x="4604004" y="2468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04004" y="26517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604004" y="34564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Hunger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604004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more of the food we buy; value it instead of binning it.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8019288" y="2057400"/>
            <a:ext cx="3520440" cy="2697480"/>
          </a:xfrm>
          <a:prstGeom prst="roundRect">
            <a:avLst>
              <a:gd name="adj" fmla="val 4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293608" y="2331720"/>
            <a:ext cx="960120" cy="960120"/>
          </a:xfrm>
          <a:prstGeom prst="roundRect">
            <a:avLst>
              <a:gd name="adj" fmla="val 13333"/>
            </a:avLst>
          </a:prstGeom>
          <a:solidFill>
            <a:srgbClr val="3F7E44"/>
          </a:solidFill>
          <a:ln/>
        </p:spPr>
      </p:sp>
      <p:sp>
        <p:nvSpPr>
          <p:cNvPr id="21" name="Text 19"/>
          <p:cNvSpPr/>
          <p:nvPr/>
        </p:nvSpPr>
        <p:spPr>
          <a:xfrm>
            <a:off x="8293608" y="2468880"/>
            <a:ext cx="960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293608" y="2651760"/>
            <a:ext cx="960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8293608" y="3456432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Climate Action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8293608" y="4114800"/>
            <a:ext cx="3017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wasted food means fewer needless food-related emissions.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640080" y="5029200"/>
            <a:ext cx="10881360" cy="1051560"/>
          </a:xfrm>
          <a:prstGeom prst="roundRect">
            <a:avLst>
              <a:gd name="adj" fmla="val 11304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2688" y="524865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32688" y="52486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60" dirty="0">
                <a:solidFill>
                  <a:srgbClr val="000000"/>
                </a:solidFill>
              </a:rPr>
              <a:t>🎯</a:t>
            </a:r>
            <a:endParaRPr lang="en-US" sz="1860" dirty="0"/>
          </a:p>
        </p:txBody>
      </p:sp>
      <p:sp>
        <p:nvSpPr>
          <p:cNvPr id="28" name="Text 26"/>
          <p:cNvSpPr/>
          <p:nvPr/>
        </p:nvSpPr>
        <p:spPr>
          <a:xfrm>
            <a:off x="1691640" y="5029200"/>
            <a:ext cx="96012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Target 12.3:  </a:t>
            </a:r>
            <a:pPr indent="0" marL="0">
              <a:lnSpc>
                <a:spcPct val="11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halve per-capita global food waste by 2030. Kulpio goes straight at household waste — the largest, most-forgettable slice.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90472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950976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it, know what's going off, cook it first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401568" cy="370332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32688" y="2395728"/>
            <a:ext cx="713232" cy="713232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32688" y="23957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28" dirty="0"/>
          </a:p>
        </p:txBody>
      </p:sp>
      <p:sp>
        <p:nvSpPr>
          <p:cNvPr id="8" name="Shape 6"/>
          <p:cNvSpPr/>
          <p:nvPr/>
        </p:nvSpPr>
        <p:spPr>
          <a:xfrm>
            <a:off x="2926080" y="2432304"/>
            <a:ext cx="640080" cy="640080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432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📥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932688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in seconds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2688" y="38862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a barcode, read a label or receipt with AI, or paste a list — no typing marathon.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4370832" y="2103120"/>
            <a:ext cx="3401568" cy="370332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2395728"/>
            <a:ext cx="713232" cy="713232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63440" y="23957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28" dirty="0"/>
          </a:p>
        </p:txBody>
      </p:sp>
      <p:sp>
        <p:nvSpPr>
          <p:cNvPr id="15" name="Shape 13"/>
          <p:cNvSpPr/>
          <p:nvPr/>
        </p:nvSpPr>
        <p:spPr>
          <a:xfrm>
            <a:off x="6656832" y="2432304"/>
            <a:ext cx="640080" cy="640080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6" name="Text 14"/>
          <p:cNvSpPr/>
          <p:nvPr/>
        </p:nvSpPr>
        <p:spPr>
          <a:xfrm>
            <a:off x="6656832" y="2432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⏳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66344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 expires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663440" y="38862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dates beat estimates. Live freshness colours and a 'week-ahead' strip.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101584" y="2103120"/>
            <a:ext cx="3401568" cy="3703320"/>
          </a:xfrm>
          <a:prstGeom prst="roundRect">
            <a:avLst>
              <a:gd name="adj" fmla="val 349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394192" y="2395728"/>
            <a:ext cx="713232" cy="713232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394192" y="2395728"/>
            <a:ext cx="71323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28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28" dirty="0"/>
          </a:p>
        </p:txBody>
      </p:sp>
      <p:sp>
        <p:nvSpPr>
          <p:cNvPr id="22" name="Shape 20"/>
          <p:cNvSpPr/>
          <p:nvPr/>
        </p:nvSpPr>
        <p:spPr>
          <a:xfrm>
            <a:off x="10387584" y="2432304"/>
            <a:ext cx="640080" cy="640080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3" name="Text 21"/>
          <p:cNvSpPr/>
          <p:nvPr/>
        </p:nvSpPr>
        <p:spPr>
          <a:xfrm>
            <a:off x="10387584" y="24323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000000"/>
                </a:solidFill>
              </a:rPr>
              <a:t>🍳</a:t>
            </a:r>
            <a:endParaRPr lang="en-US" sz="2100" dirty="0"/>
          </a:p>
        </p:txBody>
      </p:sp>
      <p:sp>
        <p:nvSpPr>
          <p:cNvPr id="24" name="Text 22"/>
          <p:cNvSpPr/>
          <p:nvPr/>
        </p:nvSpPr>
        <p:spPr>
          <a:xfrm>
            <a:off x="8394192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in time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8394192" y="3886200"/>
            <a:ext cx="2880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what's going off first; mark Used / Wasted / Froze and watch the money you save.</a:t>
            </a:r>
            <a:endParaRPr lang="en-US" sz="14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1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235440" y="-1737360"/>
            <a:ext cx="5120640" cy="5120640"/>
          </a:xfrm>
          <a:prstGeom prst="ellipse">
            <a:avLst/>
          </a:prstGeom>
          <a:solidFill>
            <a:srgbClr val="1F5D33"/>
          </a:solidFill>
          <a:ln/>
        </p:spPr>
      </p:sp>
      <p:sp>
        <p:nvSpPr>
          <p:cNvPr id="3" name="Shape 1"/>
          <p:cNvSpPr/>
          <p:nvPr/>
        </p:nvSpPr>
        <p:spPr>
          <a:xfrm>
            <a:off x="10972800" y="2651760"/>
            <a:ext cx="2011680" cy="2011680"/>
          </a:xfrm>
          <a:prstGeom prst="ellipse">
            <a:avLst/>
          </a:prstGeom>
          <a:solidFill>
            <a:srgbClr val="18301C"/>
          </a:solidFill>
          <a:ln/>
        </p:spPr>
      </p:sp>
      <p:sp>
        <p:nvSpPr>
          <p:cNvPr id="4" name="Shape 2"/>
          <p:cNvSpPr/>
          <p:nvPr/>
        </p:nvSpPr>
        <p:spPr>
          <a:xfrm>
            <a:off x="10195560" y="1600200"/>
            <a:ext cx="457200" cy="457200"/>
          </a:xfrm>
          <a:prstGeom prst="ellipse">
            <a:avLst/>
          </a:prstGeom>
          <a:solidFill>
            <a:srgbClr val="B5E048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02920"/>
            <a:ext cx="1243584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5029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" y="950976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app, offline, on any phone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896112" y="1810512"/>
            <a:ext cx="2176912" cy="4562856"/>
          </a:xfrm>
          <a:prstGeom prst="roundRect">
            <a:avLst>
              <a:gd name="adj" fmla="val 6721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9" name="Image 0" descr="/tmp/claude-0/-home-user-kulpio/cf44c086-5ab5-569b-8ab9-43d11bcfa910/scratchpad/shots/s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74520"/>
            <a:ext cx="2048896" cy="443484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62272" y="1810512"/>
            <a:ext cx="2176912" cy="4562856"/>
          </a:xfrm>
          <a:prstGeom prst="roundRect">
            <a:avLst>
              <a:gd name="adj" fmla="val 6721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1" name="Image 1" descr="/tmp/claude-0/-home-user-kulpio/cf44c086-5ab5-569b-8ab9-43d11bcfa910/scratchpad/shots/imp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80" y="1874520"/>
            <a:ext cx="2048896" cy="44348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28432" y="1810512"/>
            <a:ext cx="2176912" cy="4562856"/>
          </a:xfrm>
          <a:prstGeom prst="roundRect">
            <a:avLst>
              <a:gd name="adj" fmla="val 6721"/>
            </a:avLst>
          </a:prstGeom>
          <a:solidFill>
            <a:srgbClr val="05100A"/>
          </a:solidFill>
          <a:ln/>
          <a:effectLst>
            <a:outerShdw sx="100000" sy="100000" kx="0" ky="0" algn="bl" rotWithShape="0" blurRad="177800" dist="63500" dir="5400000">
              <a:srgbClr val="000000">
                <a:alpha val="28000"/>
              </a:srgbClr>
            </a:outerShdw>
          </a:effectLst>
        </p:spPr>
      </p:sp>
      <p:pic>
        <p:nvPicPr>
          <p:cNvPr id="13" name="Image 2" descr="/tmp/claude-0/-home-user-kulpio/cf44c086-5ab5-569b-8ab9-43d11bcfa910/scratchpad/shots/cha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874520"/>
            <a:ext cx="2048896" cy="44348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960120" y="64190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→ product card
</a:t>
            </a:r>
            <a:pPr algn="ctr" indent="0" marL="0">
              <a:buNone/>
            </a:pPr>
            <a:r>
              <a:rPr lang="en-US" sz="1100" dirty="0">
                <a:solidFill>
                  <a:srgbClr val="9FB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additives, Nutri-Score, verdict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4526280" y="64190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impact
</a:t>
            </a:r>
            <a:pPr algn="ctr" indent="0" marL="0">
              <a:buNone/>
            </a:pPr>
            <a:r>
              <a:rPr lang="en-US" sz="1100" dirty="0">
                <a:solidFill>
                  <a:srgbClr val="9FB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cut &amp; money saved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8092440" y="641908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fridge
</a:t>
            </a:r>
            <a:pPr algn="ctr" indent="0" marL="0">
              <a:buNone/>
            </a:pPr>
            <a:r>
              <a:rPr lang="en-US" sz="1100" dirty="0">
                <a:solidFill>
                  <a:srgbClr val="9FB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members, activity &amp; chat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490472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4904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950976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Kulpio does</a:t>
            </a:r>
            <a:endParaRPr lang="en-US" sz="33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28600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📷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914400" y="29443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Effortless input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331012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Barcode, AI label &amp; receipt scan, or paste a list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70832" y="201168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45152" y="228600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2" name="Text 10"/>
          <p:cNvSpPr/>
          <p:nvPr/>
        </p:nvSpPr>
        <p:spPr>
          <a:xfrm>
            <a:off x="4645152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🧊</a:t>
            </a:r>
            <a:endParaRPr lang="en-US" sz="1980" dirty="0"/>
          </a:p>
        </p:txBody>
      </p:sp>
      <p:sp>
        <p:nvSpPr>
          <p:cNvPr id="13" name="Text 11"/>
          <p:cNvSpPr/>
          <p:nvPr/>
        </p:nvSpPr>
        <p:spPr>
          <a:xfrm>
            <a:off x="4645152" y="29443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Storage sections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45152" y="331012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Fridge, freezer &amp; pantry with live freshness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1584" y="201168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375904" y="228600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7" name="Text 15"/>
          <p:cNvSpPr/>
          <p:nvPr/>
        </p:nvSpPr>
        <p:spPr>
          <a:xfrm>
            <a:off x="8375904" y="228600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🍅</a:t>
            </a:r>
            <a:endParaRPr lang="en-US" sz="1980" dirty="0"/>
          </a:p>
        </p:txBody>
      </p:sp>
      <p:sp>
        <p:nvSpPr>
          <p:cNvPr id="18" name="Text 16"/>
          <p:cNvSpPr/>
          <p:nvPr/>
        </p:nvSpPr>
        <p:spPr>
          <a:xfrm>
            <a:off x="8375904" y="294436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75904" y="331012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 from your ingredients, with nutrition estimates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11480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914400" y="438912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2" name="Text 20"/>
          <p:cNvSpPr/>
          <p:nvPr/>
        </p:nvSpPr>
        <p:spPr>
          <a:xfrm>
            <a:off x="914400" y="43891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👥</a:t>
            </a:r>
            <a:endParaRPr lang="en-US" sz="1980" dirty="0"/>
          </a:p>
        </p:txBody>
      </p:sp>
      <p:sp>
        <p:nvSpPr>
          <p:cNvPr id="23" name="Text 21"/>
          <p:cNvSpPr/>
          <p:nvPr/>
        </p:nvSpPr>
        <p:spPr>
          <a:xfrm>
            <a:off x="914400" y="50474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fridge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14400" y="541324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code links a household + activity feed &amp; chat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70832" y="411480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45152" y="438912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7" name="Text 25"/>
          <p:cNvSpPr/>
          <p:nvPr/>
        </p:nvSpPr>
        <p:spPr>
          <a:xfrm>
            <a:off x="4645152" y="43891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🏆</a:t>
            </a:r>
            <a:endParaRPr lang="en-US" sz="1980" dirty="0"/>
          </a:p>
        </p:txBody>
      </p:sp>
      <p:sp>
        <p:nvSpPr>
          <p:cNvPr id="28" name="Text 26"/>
          <p:cNvSpPr/>
          <p:nvPr/>
        </p:nvSpPr>
        <p:spPr>
          <a:xfrm>
            <a:off x="4645152" y="50474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645152" y="541324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Achievements, XP levels, monthly recap &amp; impact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01584" y="4114800"/>
            <a:ext cx="3401568" cy="1847088"/>
          </a:xfrm>
          <a:prstGeom prst="roundRect">
            <a:avLst>
              <a:gd name="adj" fmla="val 643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375904" y="4389120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32" name="Text 30"/>
          <p:cNvSpPr/>
          <p:nvPr/>
        </p:nvSpPr>
        <p:spPr>
          <a:xfrm>
            <a:off x="8375904" y="4389120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🌍</a:t>
            </a:r>
            <a:endParaRPr lang="en-US" sz="1980" dirty="0"/>
          </a:p>
        </p:txBody>
      </p:sp>
      <p:sp>
        <p:nvSpPr>
          <p:cNvPr id="33" name="Text 31"/>
          <p:cNvSpPr/>
          <p:nvPr/>
        </p:nvSpPr>
        <p:spPr>
          <a:xfrm>
            <a:off x="8375904" y="5047488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languages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8375904" y="5413248"/>
            <a:ext cx="290779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RTL support; installs to the home screen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60804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6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Kulpio decides when food expires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dates are ground truth — Kulpio only estimates when there's no date to read.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2331720"/>
            <a:ext cx="7360920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578608"/>
            <a:ext cx="603504" cy="603504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96112" y="2578608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16" dirty="0"/>
          </a:p>
        </p:txBody>
      </p:sp>
      <p:sp>
        <p:nvSpPr>
          <p:cNvPr id="9" name="Text 7"/>
          <p:cNvSpPr/>
          <p:nvPr/>
        </p:nvSpPr>
        <p:spPr>
          <a:xfrm>
            <a:off x="1691640" y="2478024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Printed date wins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4343400" y="2478024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from the pack (OCR + model) or typed by you. Always takes priority.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42416" y="3392424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1E8D8"/>
                </a:solidFill>
              </a:rPr>
              <a:t>▼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3630168"/>
            <a:ext cx="7360920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96112" y="3877056"/>
            <a:ext cx="603504" cy="603504"/>
          </a:xfrm>
          <a:prstGeom prst="ellipse">
            <a:avLst/>
          </a:prstGeom>
          <a:solidFill>
            <a:srgbClr val="2C6E3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96112" y="3877056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16" dirty="0"/>
          </a:p>
        </p:txBody>
      </p:sp>
      <p:sp>
        <p:nvSpPr>
          <p:cNvPr id="15" name="Text 13"/>
          <p:cNvSpPr/>
          <p:nvPr/>
        </p:nvSpPr>
        <p:spPr>
          <a:xfrm>
            <a:off x="1691640" y="3776472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shelf-life table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4343400" y="3776472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per-food estimate, adjusted for storage (freezer +~90 d; opened shortens).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42416" y="4690872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1E8D8"/>
                </a:solidFill>
              </a:rPr>
              <a:t>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4928616"/>
            <a:ext cx="7360920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" y="5175504"/>
            <a:ext cx="603504" cy="603504"/>
          </a:xfrm>
          <a:prstGeom prst="ellipse">
            <a:avLst/>
          </a:prstGeom>
          <a:solidFill>
            <a:srgbClr val="5B6B57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96112" y="5175504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16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16" dirty="0"/>
          </a:p>
        </p:txBody>
      </p:sp>
      <p:sp>
        <p:nvSpPr>
          <p:cNvPr id="21" name="Text 19"/>
          <p:cNvSpPr/>
          <p:nvPr/>
        </p:nvSpPr>
        <p:spPr>
          <a:xfrm>
            <a:off x="1691640" y="507492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refine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4343400" y="5074920"/>
            <a:ext cx="3520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30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online, the model refines the estimate from the product name.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183880" y="2331720"/>
            <a:ext cx="3337560" cy="3739896"/>
          </a:xfrm>
          <a:prstGeom prst="roundRect">
            <a:avLst>
              <a:gd name="adj" fmla="val 3562"/>
            </a:avLst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8458200" y="2578608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degrades gracefully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458200" y="3200400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C6E3F"/>
          </a:solidFill>
          <a:ln/>
        </p:spPr>
      </p:sp>
      <p:sp>
        <p:nvSpPr>
          <p:cNvPr id="26" name="Text 24"/>
          <p:cNvSpPr/>
          <p:nvPr/>
        </p:nvSpPr>
        <p:spPr>
          <a:xfrm>
            <a:off x="8613648" y="320040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 (best)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458200" y="38587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E048"/>
                </a:solidFill>
              </a:rPr>
              <a:t>↓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8458200" y="4114800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2C6E3F"/>
          </a:solidFill>
          <a:ln/>
        </p:spPr>
      </p:sp>
      <p:sp>
        <p:nvSpPr>
          <p:cNvPr id="29" name="Text 27"/>
          <p:cNvSpPr/>
          <p:nvPr/>
        </p:nvSpPr>
        <p:spPr>
          <a:xfrm>
            <a:off x="8613648" y="411480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Workers AI — Llama  (free)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458200" y="4773168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5E048"/>
                </a:solidFill>
              </a:rPr>
              <a:t>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8458200" y="5029200"/>
            <a:ext cx="2788920" cy="713232"/>
          </a:xfrm>
          <a:prstGeom prst="roundRect">
            <a:avLst>
              <a:gd name="adj" fmla="val 12821"/>
            </a:avLst>
          </a:prstGeom>
          <a:solidFill>
            <a:srgbClr val="14301C"/>
          </a:solidFill>
          <a:ln/>
        </p:spPr>
      </p:sp>
      <p:sp>
        <p:nvSpPr>
          <p:cNvPr id="32" name="Text 30"/>
          <p:cNvSpPr/>
          <p:nvPr/>
        </p:nvSpPr>
        <p:spPr>
          <a:xfrm>
            <a:off x="8613648" y="5029200"/>
            <a:ext cx="2514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JSON error — never blocks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231136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as one offline file + one worker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5303520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57400"/>
            <a:ext cx="5303520" cy="566928"/>
          </a:xfrm>
          <a:prstGeom prst="roundRect">
            <a:avLst>
              <a:gd name="adj" fmla="val 20968"/>
            </a:avLst>
          </a:prstGeom>
          <a:solidFill>
            <a:srgbClr val="1F5D33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0574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📱  Client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32688" y="28163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163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static HTML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~1.3 MB — markup, CSS, JS, 33 langs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932688" y="34198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07008" y="34198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step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no framework, no bundler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932688" y="4023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07008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worker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precache → fully offline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932688" y="46268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46268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Crypto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hashing &amp; secure tokens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17920" y="2057400"/>
            <a:ext cx="5303520" cy="3246120"/>
          </a:xfrm>
          <a:prstGeom prst="roundRect">
            <a:avLst>
              <a:gd name="adj" fmla="val 366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2057400"/>
            <a:ext cx="5303520" cy="566928"/>
          </a:xfrm>
          <a:prstGeom prst="roundRect">
            <a:avLst>
              <a:gd name="adj" fmla="val 20968"/>
            </a:avLst>
          </a:prstGeom>
          <a:solidFill>
            <a:srgbClr val="2C6E3F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2057400"/>
            <a:ext cx="4754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 Backend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510528" y="2816352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84848" y="281635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Worker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serves the app AND the API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510528" y="3419856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84848" y="3419856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(SQLite)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accounts, sync, households, community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6510528" y="402336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784848" y="402336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Push (VAPID)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daily expiry reminders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510528" y="4626864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5E048"/>
                </a:solidFill>
              </a:rPr>
              <a:t>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784848" y="4626864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Rate-limited auth  </a:t>
            </a:r>
            <a:pPr indent="0" marL="0"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PBKDF2 · 5 tries / 15 min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640080" y="5486400"/>
            <a:ext cx="10881360" cy="603504"/>
          </a:xfrm>
          <a:prstGeom prst="roundRect">
            <a:avLst>
              <a:gd name="adj" fmla="val 19697"/>
            </a:avLst>
          </a:prstGeom>
          <a:solidFill>
            <a:srgbClr val="0E1C12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4400" y="5486400"/>
            <a:ext cx="103327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Deploy:  </a:t>
            </a:r>
            <a:pPr indent="0" marL="0">
              <a:buNone/>
            </a:pPr>
            <a:r>
              <a:rPr lang="en-US" sz="1250" dirty="0">
                <a:solidFill>
                  <a:srgbClr val="CBD8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Cloudflare Worker serves static assets + API on a single origin — installs from static hosting, runs offline.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601468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6014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VS. EXISTING APPS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950976"/>
            <a:ext cx="10972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Kulpio is different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743200" cy="731520"/>
          </a:xfrm>
          <a:prstGeom prst="rect">
            <a:avLst/>
          </a:prstGeom>
          <a:solidFill>
            <a:srgbClr val="1F5D33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2148840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383280" y="2148840"/>
            <a:ext cx="1600200" cy="731520"/>
          </a:xfrm>
          <a:prstGeom prst="rect">
            <a:avLst/>
          </a:prstGeom>
          <a:solidFill>
            <a:srgbClr val="1F5D33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214884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Offline, no install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983480" y="2148840"/>
            <a:ext cx="1600200" cy="731520"/>
          </a:xfrm>
          <a:prstGeom prst="rect">
            <a:avLst/>
          </a:prstGeom>
          <a:solidFill>
            <a:srgbClr val="1F5D33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56632" y="214884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label/receipt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583680" y="2148840"/>
            <a:ext cx="1828800" cy="731520"/>
          </a:xfrm>
          <a:prstGeom prst="rect">
            <a:avLst/>
          </a:prstGeom>
          <a:solidFill>
            <a:srgbClr val="1F5D33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56832" y="214884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fridge + chat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412480" y="2148840"/>
            <a:ext cx="1463040" cy="731520"/>
          </a:xfrm>
          <a:prstGeom prst="rect">
            <a:avLst/>
          </a:prstGeom>
          <a:solidFill>
            <a:srgbClr val="1F5D33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85632" y="214884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 languages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875520" y="2148840"/>
            <a:ext cx="1645920" cy="731520"/>
          </a:xfrm>
          <a:prstGeom prst="rect">
            <a:avLst/>
          </a:prstGeom>
          <a:solidFill>
            <a:srgbClr val="1F5D33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48672" y="214884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Privacy-first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0080" y="2880360"/>
            <a:ext cx="2743200" cy="731520"/>
          </a:xfrm>
          <a:prstGeom prst="rect">
            <a:avLst/>
          </a:prstGeom>
          <a:solidFill>
            <a:srgbClr val="E9F4CC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13232" y="2880360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83280" y="2880360"/>
            <a:ext cx="1600200" cy="731520"/>
          </a:xfrm>
          <a:prstGeom prst="rect">
            <a:avLst/>
          </a:prstGeom>
          <a:solidFill>
            <a:srgbClr val="E9F4CC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56432" y="288036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983480" y="2880360"/>
            <a:ext cx="1600200" cy="731520"/>
          </a:xfrm>
          <a:prstGeom prst="rect">
            <a:avLst/>
          </a:prstGeom>
          <a:solidFill>
            <a:srgbClr val="E9F4CC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56632" y="288036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83680" y="2880360"/>
            <a:ext cx="1828800" cy="731520"/>
          </a:xfrm>
          <a:prstGeom prst="rect">
            <a:avLst/>
          </a:prstGeom>
          <a:solidFill>
            <a:srgbClr val="E9F4CC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56832" y="288036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412480" y="2880360"/>
            <a:ext cx="1463040" cy="731520"/>
          </a:xfrm>
          <a:prstGeom prst="rect">
            <a:avLst/>
          </a:prstGeom>
          <a:solidFill>
            <a:srgbClr val="E9F4CC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85632" y="288036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875520" y="2880360"/>
            <a:ext cx="1645920" cy="731520"/>
          </a:xfrm>
          <a:prstGeom prst="rect">
            <a:avLst/>
          </a:prstGeom>
          <a:solidFill>
            <a:srgbClr val="E9F4CC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48672" y="288036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" y="3611880"/>
            <a:ext cx="2743200" cy="731520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3232" y="3611880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apps (NoWaste…)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383280" y="3611880"/>
            <a:ext cx="1600200" cy="731520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56432" y="361188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983480" y="3611880"/>
            <a:ext cx="1600200" cy="731520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56632" y="361188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83680" y="3611880"/>
            <a:ext cx="1828800" cy="731520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56832" y="361188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412480" y="3611880"/>
            <a:ext cx="1463040" cy="731520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485632" y="361188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9875520" y="3611880"/>
            <a:ext cx="1645920" cy="731520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948672" y="361188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varies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40080" y="4343400"/>
            <a:ext cx="2743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4343400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 Good To Go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383280" y="4343400"/>
            <a:ext cx="1600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56432" y="434340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983480" y="4343400"/>
            <a:ext cx="16002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56632" y="434340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6583680" y="4343400"/>
            <a:ext cx="18288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656832" y="434340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8412480" y="4343400"/>
            <a:ext cx="146304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85632" y="434340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9875520" y="4343400"/>
            <a:ext cx="16459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948672" y="434340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40080" y="5074920"/>
            <a:ext cx="2743200" cy="731520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" y="5074920"/>
            <a:ext cx="2596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Whisk / Samsung Food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3383280" y="5074920"/>
            <a:ext cx="1600200" cy="731520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56432" y="507492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983480" y="5074920"/>
            <a:ext cx="1600200" cy="731520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56632" y="5074920"/>
            <a:ext cx="14538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583680" y="5074920"/>
            <a:ext cx="1828800" cy="731520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56832" y="5074920"/>
            <a:ext cx="168249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62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8412480" y="5074920"/>
            <a:ext cx="1463040" cy="731520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485632" y="5074920"/>
            <a:ext cx="131673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9875520" y="5074920"/>
            <a:ext cx="1645920" cy="731520"/>
          </a:xfrm>
          <a:prstGeom prst="rect">
            <a:avLst/>
          </a:prstGeom>
          <a:solidFill>
            <a:srgbClr val="F7FAF2"/>
          </a:solidFill>
          <a:ln w="12700">
            <a:solidFill>
              <a:srgbClr val="E1E8D8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948672" y="5074920"/>
            <a:ext cx="14996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cloud-first</a:t>
            </a:r>
            <a:endParaRPr lang="en-US" sz="1300" dirty="0"/>
          </a:p>
        </p:txBody>
      </p:sp>
      <p:sp>
        <p:nvSpPr>
          <p:cNvPr id="65" name="Text 63"/>
          <p:cNvSpPr/>
          <p:nvPr/>
        </p:nvSpPr>
        <p:spPr>
          <a:xfrm>
            <a:off x="640080" y="598932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</a:t>
            </a:r>
            <a:pPr indent="0" marL="0">
              <a:buNone/>
            </a:pPr>
            <a:r>
              <a:rPr lang="en-US" sz="140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offline single-file PWA + AI input + a social shared fridge + privacy — is the edge.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724912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SECURITY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by design, hardened by default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12080" cy="1572768"/>
          </a:xfrm>
          <a:prstGeom prst="roundRect">
            <a:avLst>
              <a:gd name="adj" fmla="val 7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587752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5877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🔒</a:t>
            </a:r>
            <a:endParaRPr lang="en-US" sz="1980" dirty="0"/>
          </a:p>
        </p:txBody>
      </p:sp>
      <p:sp>
        <p:nvSpPr>
          <p:cNvPr id="8" name="Text 6"/>
          <p:cNvSpPr/>
          <p:nvPr/>
        </p:nvSpPr>
        <p:spPr>
          <a:xfrm>
            <a:off x="1737360" y="23591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Local-first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737360" y="276148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fridge stays in the browser — nothing leaves unless you choose a networked feature.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26480" y="2103120"/>
            <a:ext cx="5212080" cy="1572768"/>
          </a:xfrm>
          <a:prstGeom prst="roundRect">
            <a:avLst>
              <a:gd name="adj" fmla="val 7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0" y="2587752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0" y="25877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📤</a:t>
            </a:r>
            <a:endParaRPr lang="en-US" sz="1980" dirty="0"/>
          </a:p>
        </p:txBody>
      </p:sp>
      <p:sp>
        <p:nvSpPr>
          <p:cNvPr id="13" name="Text 11"/>
          <p:cNvSpPr/>
          <p:nvPr/>
        </p:nvSpPr>
        <p:spPr>
          <a:xfrm>
            <a:off x="7223760" y="23591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GDPR export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223760" y="276148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tap downloads everything the app holds about you as JSON.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5212080" cy="1572768"/>
          </a:xfrm>
          <a:prstGeom prst="roundRect">
            <a:avLst>
              <a:gd name="adj" fmla="val 7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416552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416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🗑️</a:t>
            </a:r>
            <a:endParaRPr lang="en-US" sz="1980" dirty="0"/>
          </a:p>
        </p:txBody>
      </p:sp>
      <p:sp>
        <p:nvSpPr>
          <p:cNvPr id="18" name="Text 16"/>
          <p:cNvSpPr/>
          <p:nvPr/>
        </p:nvSpPr>
        <p:spPr>
          <a:xfrm>
            <a:off x="1737360" y="41879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deletion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737360" y="459028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account wipes the server account, sessions &amp; synced data.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26480" y="3931920"/>
            <a:ext cx="5212080" cy="1572768"/>
          </a:xfrm>
          <a:prstGeom prst="roundRect">
            <a:avLst>
              <a:gd name="adj" fmla="val 75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0" y="4416552"/>
            <a:ext cx="603504" cy="603504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4416552"/>
            <a:ext cx="60350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80" dirty="0">
                <a:solidFill>
                  <a:srgbClr val="000000"/>
                </a:solidFill>
              </a:rPr>
              <a:t>🛡️</a:t>
            </a:r>
            <a:endParaRPr lang="en-US" sz="1980" dirty="0"/>
          </a:p>
        </p:txBody>
      </p:sp>
      <p:sp>
        <p:nvSpPr>
          <p:cNvPr id="23" name="Text 21"/>
          <p:cNvSpPr/>
          <p:nvPr/>
        </p:nvSpPr>
        <p:spPr>
          <a:xfrm>
            <a:off x="7223760" y="4187952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Hardened auth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7223760" y="4590288"/>
            <a:ext cx="3977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hashing, opaque tokens, and login rate-limiting (5 / 15 min).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243584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2435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Projected savings — and how we'll measure it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1810512"/>
            <a:ext cx="4329684" cy="384048"/>
          </a:xfrm>
          <a:prstGeom prst="roundRect">
            <a:avLst>
              <a:gd name="adj" fmla="val 50000"/>
            </a:avLst>
          </a:prstGeom>
          <a:solidFill>
            <a:srgbClr val="F0A83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810512"/>
            <a:ext cx="43296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PROJECTION · MODEL, NOT A STUDY</a:t>
            </a:r>
            <a:endParaRPr lang="en-US" sz="12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502920" y="2423160"/>
          <a:ext cx="6126480" cy="3611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6903720" y="2423160"/>
            <a:ext cx="4617720" cy="3611880"/>
          </a:xfrm>
          <a:prstGeom prst="roundRect">
            <a:avLst>
              <a:gd name="adj" fmla="val 329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178040" y="267004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a mid-range 30% reminder effectiveness: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30%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fewer wasted items
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€10–11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saved / household / month
</a:t>
            </a:r>
            <a:pPr indent="0" marL="0">
              <a:lnSpc>
                <a:spcPct val="135000"/>
              </a:lnSpc>
              <a:buNone/>
            </a:pPr>
            <a:r>
              <a:rPr lang="en-US" sz="1700" b="1" dirty="0">
                <a:solidFill>
                  <a:srgbClr val="F0A8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€128</a:t>
            </a:r>
            <a:pPr indent="0" marL="0">
              <a:lnSpc>
                <a:spcPct val="135000"/>
              </a:lnSpc>
              <a:buNone/>
            </a:pPr>
            <a:r>
              <a:rPr lang="en-US" sz="150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household / year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7178040" y="4709160"/>
            <a:ext cx="4160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 for real by a pilot:  </a:t>
            </a:r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within-subject micro-study (baseline vs. Kulpio week, N = 3–15) using the app's built-in CSV export.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860804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8608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JOURNEY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evolved — and what I had to solve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15184" cy="3749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468880"/>
            <a:ext cx="658368" cy="658368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72" dirty="0"/>
          </a:p>
        </p:txBody>
      </p:sp>
      <p:sp>
        <p:nvSpPr>
          <p:cNvPr id="8" name="Text 6"/>
          <p:cNvSpPr/>
          <p:nvPr/>
        </p:nvSpPr>
        <p:spPr>
          <a:xfrm>
            <a:off x="896112" y="32461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core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96112" y="370332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Single-file PWA + shelf-life table.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96112" y="4434840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E9F4CC"/>
          </a:solidFill>
          <a:ln/>
        </p:spPr>
      </p:sp>
      <p:sp>
        <p:nvSpPr>
          <p:cNvPr id="11" name="Text 9"/>
          <p:cNvSpPr/>
          <p:nvPr/>
        </p:nvSpPr>
        <p:spPr>
          <a:xfrm>
            <a:off x="1042416" y="452628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spc="50" kern="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solved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Had to run with no network → service-worker precache.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392424" y="2194560"/>
            <a:ext cx="2615184" cy="3749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666744" y="2468880"/>
            <a:ext cx="658368" cy="658368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66744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72" dirty="0"/>
          </a:p>
        </p:txBody>
      </p:sp>
      <p:sp>
        <p:nvSpPr>
          <p:cNvPr id="15" name="Text 13"/>
          <p:cNvSpPr/>
          <p:nvPr/>
        </p:nvSpPr>
        <p:spPr>
          <a:xfrm>
            <a:off x="3648456" y="32461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Trustworthy dates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3648456" y="370332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label reading + estimates.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3648456" y="4434840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E9F4CC"/>
          </a:solidFill>
          <a:ln/>
        </p:spPr>
      </p:sp>
      <p:sp>
        <p:nvSpPr>
          <p:cNvPr id="18" name="Text 16"/>
          <p:cNvSpPr/>
          <p:nvPr/>
        </p:nvSpPr>
        <p:spPr>
          <a:xfrm>
            <a:off x="3794760" y="452628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spc="50" kern="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solved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Estimates felt unreliable → printed dates always win.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144768" y="2194560"/>
            <a:ext cx="2615184" cy="3749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9088" y="2468880"/>
            <a:ext cx="658368" cy="658368"/>
          </a:xfrm>
          <a:prstGeom prst="ellipse">
            <a:avLst/>
          </a:prstGeom>
          <a:solidFill>
            <a:srgbClr val="1F5D33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19088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72" dirty="0"/>
          </a:p>
        </p:txBody>
      </p:sp>
      <p:sp>
        <p:nvSpPr>
          <p:cNvPr id="22" name="Text 20"/>
          <p:cNvSpPr/>
          <p:nvPr/>
        </p:nvSpPr>
        <p:spPr>
          <a:xfrm>
            <a:off x="6400800" y="32461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the friction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6400800" y="370332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Barcode, receipt scan, paste-a-list.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0" y="4434840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E9F4CC"/>
          </a:solidFill>
          <a:ln/>
        </p:spPr>
      </p:sp>
      <p:sp>
        <p:nvSpPr>
          <p:cNvPr id="25" name="Text 23"/>
          <p:cNvSpPr/>
          <p:nvPr/>
        </p:nvSpPr>
        <p:spPr>
          <a:xfrm>
            <a:off x="6547104" y="452628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spc="50" kern="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solved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was tedious → four fast input paths.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897112" y="2194560"/>
            <a:ext cx="2615184" cy="37490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171432" y="2468880"/>
            <a:ext cx="658368" cy="658368"/>
          </a:xfrm>
          <a:prstGeom prst="ellipse">
            <a:avLst/>
          </a:prstGeom>
          <a:solidFill>
            <a:srgbClr val="F0A830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71432" y="24688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7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72" dirty="0"/>
          </a:p>
        </p:txBody>
      </p:sp>
      <p:sp>
        <p:nvSpPr>
          <p:cNvPr id="29" name="Text 27"/>
          <p:cNvSpPr/>
          <p:nvPr/>
        </p:nvSpPr>
        <p:spPr>
          <a:xfrm>
            <a:off x="9153144" y="3246120"/>
            <a:ext cx="21579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&amp; safe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9153144" y="3703320"/>
            <a:ext cx="2157984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fridge, accounts, GDPR, 33 langs.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9153144" y="4434840"/>
            <a:ext cx="2103120" cy="1298448"/>
          </a:xfrm>
          <a:prstGeom prst="roundRect">
            <a:avLst>
              <a:gd name="adj" fmla="val 7042"/>
            </a:avLst>
          </a:prstGeom>
          <a:solidFill>
            <a:srgbClr val="E9F4CC"/>
          </a:solidFill>
          <a:ln/>
        </p:spPr>
      </p:sp>
      <p:sp>
        <p:nvSpPr>
          <p:cNvPr id="32" name="Text 30"/>
          <p:cNvSpPr/>
          <p:nvPr/>
        </p:nvSpPr>
        <p:spPr>
          <a:xfrm>
            <a:off x="9299448" y="4526280"/>
            <a:ext cx="18288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050" b="1" spc="50" kern="0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solved
</a:t>
            </a:r>
            <a:pPr indent="0" marL="0">
              <a:lnSpc>
                <a:spcPct val="108000"/>
              </a:lnSpc>
              <a:buNone/>
            </a:pPr>
            <a:r>
              <a:rPr lang="en-US" sz="11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phones clobbered data → server-side merge.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7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2724912" cy="384048"/>
          </a:xfrm>
          <a:prstGeom prst="roundRect">
            <a:avLst>
              <a:gd name="adj" fmla="val 50000"/>
            </a:avLst>
          </a:prstGeom>
          <a:solidFill>
            <a:srgbClr val="B5E048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40" kern="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&amp; SUSTAINABLE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03504" y="950976"/>
            <a:ext cx="11155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goes — and how it stays alive</a:t>
            </a:r>
            <a:endParaRPr lang="en-US" sz="31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257800" cy="3749040"/>
          </a:xfrm>
          <a:prstGeom prst="roundRect">
            <a:avLst>
              <a:gd name="adj" fmla="val 31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377440"/>
            <a:ext cx="548640" cy="548640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572768" y="23957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&amp; sustainable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154680"/>
            <a:ext cx="4754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under GNU AGPL v3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open use.
</a:t>
            </a:r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1F5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Paid commercial licence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closed-source use — per product: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914400" y="4343400"/>
            <a:ext cx="4892040" cy="658368"/>
          </a:xfrm>
          <a:prstGeom prst="roundRect">
            <a:avLst>
              <a:gd name="adj" fmla="val 13889"/>
            </a:avLst>
          </a:prstGeom>
          <a:solidFill>
            <a:srgbClr val="1F5D33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4343400"/>
            <a:ext cx="4892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Indie €250  ·  Business €1,500  ·  Enterprise €5,000+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914400" y="512064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project open while funding its future.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103120"/>
            <a:ext cx="5257800" cy="3749040"/>
          </a:xfrm>
          <a:prstGeom prst="roundRect">
            <a:avLst>
              <a:gd name="adj" fmla="val 31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2200F">
                <a:alpha val="2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537960" y="2377440"/>
            <a:ext cx="548640" cy="548640"/>
          </a:xfrm>
          <a:prstGeom prst="ellipse">
            <a:avLst/>
          </a:prstGeom>
          <a:solidFill>
            <a:srgbClr val="E9F4CC"/>
          </a:solidFill>
          <a:ln/>
        </p:spPr>
      </p:sp>
      <p:sp>
        <p:nvSpPr>
          <p:cNvPr id="15" name="Text 13"/>
          <p:cNvSpPr/>
          <p:nvPr/>
        </p:nvSpPr>
        <p:spPr>
          <a:xfrm>
            <a:off x="6537960" y="23774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196328" y="239572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537960" y="3200400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49440" y="320040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real user pilot &amp; publish results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537960" y="3730752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49440" y="3730752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the offline shelf-life table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537960" y="4261104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949440" y="4261104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 (add an email provider)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537960" y="4791456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949440" y="479145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Field-level merge for multi-device edits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6537960" y="5321808"/>
            <a:ext cx="365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5E048"/>
                </a:solidFill>
              </a:rPr>
              <a:t>→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949440" y="5321808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624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Shareable monthly impact report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E1C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114800"/>
            <a:ext cx="4754880" cy="4754880"/>
          </a:xfrm>
          <a:prstGeom prst="ellipse">
            <a:avLst/>
          </a:prstGeom>
          <a:solidFill>
            <a:srgbClr val="1F5D33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371600"/>
            <a:ext cx="3840480" cy="3840480"/>
          </a:xfrm>
          <a:prstGeom prst="ellipse">
            <a:avLst/>
          </a:prstGeom>
          <a:solidFill>
            <a:srgbClr val="18301C"/>
          </a:solidFill>
          <a:ln/>
        </p:spPr>
      </p:sp>
      <p:sp>
        <p:nvSpPr>
          <p:cNvPr id="4" name="Text 2"/>
          <p:cNvSpPr/>
          <p:nvPr/>
        </p:nvSpPr>
        <p:spPr>
          <a:xfrm>
            <a:off x="777240" y="1097280"/>
            <a:ext cx="1097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dirty="0">
                <a:solidFill>
                  <a:srgbClr val="000000"/>
                </a:solidFill>
              </a:rPr>
              <a:t>🍐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777240" y="22860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 less. Save more. Together.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333756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5E0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Kulpio — a food-freshness tracker that fits in your pocket, in your language.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4251960"/>
            <a:ext cx="1572768" cy="457200"/>
          </a:xfrm>
          <a:prstGeom prst="roundRect">
            <a:avLst>
              <a:gd name="adj" fmla="val 20000"/>
            </a:avLst>
          </a:prstGeom>
          <a:solidFill>
            <a:srgbClr val="BF8B2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2519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60320" y="4251960"/>
            <a:ext cx="1572768" cy="457200"/>
          </a:xfrm>
          <a:prstGeom prst="roundRect">
            <a:avLst>
              <a:gd name="adj" fmla="val 20000"/>
            </a:avLst>
          </a:prstGeom>
          <a:solidFill>
            <a:srgbClr val="DDA63A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42519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97680" y="4251960"/>
            <a:ext cx="1572768" cy="457200"/>
          </a:xfrm>
          <a:prstGeom prst="roundRect">
            <a:avLst>
              <a:gd name="adj" fmla="val 20000"/>
            </a:avLst>
          </a:prstGeom>
          <a:solidFill>
            <a:srgbClr val="3F7E44"/>
          </a:solidFill>
          <a:ln/>
        </p:spPr>
      </p:sp>
      <p:sp>
        <p:nvSpPr>
          <p:cNvPr id="12" name="Text 10"/>
          <p:cNvSpPr/>
          <p:nvPr/>
        </p:nvSpPr>
        <p:spPr>
          <a:xfrm>
            <a:off x="4297680" y="4251960"/>
            <a:ext cx="15727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SDG 13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B3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Daniil Bejenari   ·   github.com/Gugster777/kulpio   ·   firSTep × Infomatrix 2026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Kulpio</dc:title>
  <dc:subject>PptxGenJS Presentation</dc:subject>
  <dc:creator>Daniil Bejenari</dc:creator>
  <cp:lastModifiedBy>Daniil Bejenari</cp:lastModifiedBy>
  <cp:revision>1</cp:revision>
  <dcterms:created xsi:type="dcterms:W3CDTF">2026-07-23T15:24:03Z</dcterms:created>
  <dcterms:modified xsi:type="dcterms:W3CDTF">2026-07-23T15:24:03Z</dcterms:modified>
</cp:coreProperties>
</file>