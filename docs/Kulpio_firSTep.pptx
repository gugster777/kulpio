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€ saved / household / month</c:v>
                </c:pt>
              </c:strCache>
            </c:strRef>
          </c:tx>
          <c:spPr>
            <a:solidFill>
              <a:srgbClr val="F0A830"/>
            </a:solidFill>
            <a:effectLst/>
          </c:spPr>
          <c:invertIfNegative val="0"/>
          <c:dLbls>
            <c:numFmt formatCode="€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624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15%</c:v>
                  </c:pt>
                  <c:pt idx="1">
                    <c:v>20%</c:v>
                  </c:pt>
                  <c:pt idx="2">
                    <c:v>30%</c:v>
                  </c:pt>
                  <c:pt idx="3">
                    <c:v>40%</c:v>
                  </c:pt>
                  <c:pt idx="4">
                    <c:v>50%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5.33</c:v>
                </c:pt>
                <c:pt idx="1">
                  <c:v>7.15</c:v>
                </c:pt>
                <c:pt idx="2">
                  <c:v>10.71</c:v>
                </c:pt>
                <c:pt idx="3">
                  <c:v>14.32</c:v>
                </c:pt>
                <c:pt idx="4">
                  <c:v>17.81</c:v>
                </c:pt>
              </c:numCache>
            </c:numRef>
          </c:val>
        </c:ser>
        <c:dLbls>
          <c:numFmt formatCode="€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624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57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B57"/>
                    </a:solidFill>
                    <a:latin typeface="Arial"/>
                  </a:rPr>
                  <a:t>Reminder effectiveness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5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— Kulpio for the firSTep Project Competition, Creative Engineers category. Introduce yourself and the school (T.L. Orizont, Ceadîr-Lunga), then the project I designed and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Personal interest: I built Kulpio because I kept wasting food in my own kitchen — money and a climate cost. I wanted a tool that tells me what to use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third of food is wasted; households are a huge share; the cause at home is forgetting — an information problem, solvable with software.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Kulpio aligns with SDG 12 (Responsible Consumption — primary), SDG 2 (Zero Hunger) and SDG 13 (Climate Action), and directly serves UN Target 12.3: halve food waste by 2030.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three-step loop: add with almost no effort, see what's expiring, use it in time — with money-saved feedback that keeps you coming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screenshots: the scanned product card with an allergen warning, the impact screen, and the community Discover leaderboard. Everything runs offline from a single HTML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quick product tour: the home dashboard, recipes from your ingredients, the per-item edit with price history, and the profile with levels and impact.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pillars: effortless input, storage sections, recipes, the shared fridge, motivation, and 33-language reach.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Scientific method: printed date beats an offline shelf-life estimate beats an AI refinement. The AI itself degrades gracefully — best model, then a free Llama fallback, then a clean error — so the app never blocks.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Hardware/software: the client is one static HTML file with a service worker; the backend is a single Cloudflare Worker plus D1 (SQLite), Web Push and Web Crypto. No build step; deploys to static hosting.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framing: the chart is a transparent projection from one stated assumption (reminder effectiveness) — NOT measured data. Real numbers come from a within-subject micro-study measured via the app's CSV export. The two are kept separate.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Local-first storage, GDPR export and true account deletion, plus hardened, rate-limited auth — a credible privacy posture users and judges can trust.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Iterations and the problem solved at each: offline (service worker), trustworthy dates (printed beats estimate), low-friction input (four paths), and safe multi-device sync (server-side merge).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Future improvements: a native Android app, the real pilot, validate the shelf-life table, add email verification, field-level merge and a shareable impact report. Kulpio is free and open-source under the AGPL v3.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Kulpio: waste less, save money, in any language — built for the Global Goals. Questions welcome.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349240"/>
            <a:ext cx="3200400" cy="3200400"/>
          </a:xfrm>
          <a:prstGeom prst="ellipse">
            <a:avLst/>
          </a:prstGeom>
          <a:solidFill>
            <a:srgbClr val="ECF3DF"/>
          </a:solidFill>
          <a:ln/>
        </p:spPr>
      </p:sp>
      <p:sp>
        <p:nvSpPr>
          <p:cNvPr id="3" name="Shape 1"/>
          <p:cNvSpPr/>
          <p:nvPr/>
        </p:nvSpPr>
        <p:spPr>
          <a:xfrm>
            <a:off x="-868680" y="-868680"/>
            <a:ext cx="2103120" cy="2103120"/>
          </a:xfrm>
          <a:prstGeom prst="ellipse">
            <a:avLst/>
          </a:prstGeom>
          <a:solidFill>
            <a:srgbClr val="EDF3E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515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dirty="0">
                <a:solidFill>
                  <a:srgbClr val="000000"/>
                </a:solidFill>
              </a:rPr>
              <a:t>🍐</a:t>
            </a:r>
            <a:endParaRPr lang="en-US" sz="7000" dirty="0"/>
          </a:p>
        </p:txBody>
      </p:sp>
      <p:sp>
        <p:nvSpPr>
          <p:cNvPr id="5" name="Text 3"/>
          <p:cNvSpPr/>
          <p:nvPr/>
        </p:nvSpPr>
        <p:spPr>
          <a:xfrm>
            <a:off x="2057400" y="1097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Kulpio</a:t>
            </a:r>
            <a:endParaRPr lang="en-US" sz="70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C6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less food. Save money. In any language.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77240" y="333756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privacy-first Progressive Web App I designed and built to help households waste less food — offline, on any phone, in 33 languages. Built for the UN Global Goals.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5029200"/>
            <a:ext cx="4453128" cy="384048"/>
          </a:xfrm>
          <a:prstGeom prst="roundRect">
            <a:avLst>
              <a:gd name="adj" fmla="val 50000"/>
            </a:avLst>
          </a:prstGeom>
          <a:solidFill>
            <a:srgbClr val="B5E04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5029200"/>
            <a:ext cx="4453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FIRSTEP PROJECT COMPETITION 2026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13248" y="5029200"/>
            <a:ext cx="2724912" cy="384048"/>
          </a:xfrm>
          <a:prstGeom prst="roundRect">
            <a:avLst>
              <a:gd name="adj" fmla="val 50000"/>
            </a:avLst>
          </a:prstGeom>
          <a:solidFill>
            <a:srgbClr val="2C6E3F"/>
          </a:solidFill>
          <a:ln/>
        </p:spPr>
      </p:sp>
      <p:sp>
        <p:nvSpPr>
          <p:cNvPr id="11" name="Text 9"/>
          <p:cNvSpPr/>
          <p:nvPr/>
        </p:nvSpPr>
        <p:spPr>
          <a:xfrm>
            <a:off x="5413248" y="5029200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ENGINEERS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5760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Daniil Bejenari
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T.L. Orizont · Ceadîr-Lunga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349240"/>
            <a:ext cx="3200400" cy="3200400"/>
          </a:xfrm>
          <a:prstGeom prst="ellipse">
            <a:avLst/>
          </a:prstGeom>
          <a:solidFill>
            <a:srgbClr val="ECF3DF"/>
          </a:solidFill>
          <a:ln/>
        </p:spPr>
      </p:sp>
      <p:sp>
        <p:nvSpPr>
          <p:cNvPr id="3" name="Shape 1"/>
          <p:cNvSpPr/>
          <p:nvPr/>
        </p:nvSpPr>
        <p:spPr>
          <a:xfrm>
            <a:off x="-868680" y="-868680"/>
            <a:ext cx="2103120" cy="2103120"/>
          </a:xfrm>
          <a:prstGeom prst="ellipse">
            <a:avLst/>
          </a:prstGeom>
          <a:solidFill>
            <a:srgbClr val="EDF3E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Kulpio</a:t>
            </a:r>
            <a:pPr indent="0" marL="0">
              <a:buNone/>
            </a:pPr>
            <a:r>
              <a:rPr lang="en-US" sz="900" dirty="0">
                <a:solidFill>
                  <a:srgbClr val="9AA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food-freshness tracker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528816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502920"/>
            <a:ext cx="2478024" cy="384048"/>
          </a:xfrm>
          <a:prstGeom prst="roundRect">
            <a:avLst>
              <a:gd name="adj" fmla="val 50000"/>
            </a:avLst>
          </a:prstGeom>
          <a:solidFill>
            <a:srgbClr val="B5E04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2478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 BUILT THIS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3504" y="950976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started in my own fridge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640080" y="2057400"/>
            <a:ext cx="6720840" cy="3977640"/>
          </a:xfrm>
          <a:prstGeom prst="roundRect">
            <a:avLst>
              <a:gd name="adj" fmla="val 29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2377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🍐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960120" y="3429000"/>
            <a:ext cx="60350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kept watching good food go bad — bought with the best intentions, pushed to the back of the shelf, forgotten, then thrown out.
</a:t>
            </a:r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bothered me twice over: it's money in the bin, and wasted food is a real climate problem. </a:t>
            </a:r>
            <a:pPr indent="0" marL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 built the tool I wanted</a:t>
            </a:r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one that just tells me what to use next, before it's too late.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35240" y="2057400"/>
            <a:ext cx="3913632" cy="3977640"/>
          </a:xfrm>
          <a:prstGeom prst="roundRect">
            <a:avLst>
              <a:gd name="adj" fmla="val 3037"/>
            </a:avLst>
          </a:prstGeom>
          <a:solidFill>
            <a:srgbClr val="1F5D33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909560" y="23774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E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 in one line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909560" y="2971800"/>
            <a:ext cx="336499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“Don't let me forget the food I already own.”</a:t>
            </a:r>
            <a:endParaRPr lang="en-US" sz="2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349240"/>
            <a:ext cx="3200400" cy="3200400"/>
          </a:xfrm>
          <a:prstGeom prst="ellipse">
            <a:avLst/>
          </a:prstGeom>
          <a:solidFill>
            <a:srgbClr val="ECF3DF"/>
          </a:solidFill>
          <a:ln/>
        </p:spPr>
      </p:sp>
      <p:sp>
        <p:nvSpPr>
          <p:cNvPr id="3" name="Shape 1"/>
          <p:cNvSpPr/>
          <p:nvPr/>
        </p:nvSpPr>
        <p:spPr>
          <a:xfrm>
            <a:off x="-868680" y="-868680"/>
            <a:ext cx="2103120" cy="2103120"/>
          </a:xfrm>
          <a:prstGeom prst="ellipse">
            <a:avLst/>
          </a:prstGeom>
          <a:solidFill>
            <a:srgbClr val="EDF3E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Kulpio</a:t>
            </a:r>
            <a:pPr indent="0" marL="0">
              <a:buNone/>
            </a:pPr>
            <a:r>
              <a:rPr lang="en-US" sz="900" dirty="0">
                <a:solidFill>
                  <a:srgbClr val="9AA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food-freshness tracker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528816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502920"/>
            <a:ext cx="1860804" cy="384048"/>
          </a:xfrm>
          <a:prstGeom prst="roundRect">
            <a:avLst>
              <a:gd name="adj" fmla="val 50000"/>
            </a:avLst>
          </a:prstGeom>
          <a:solidFill>
            <a:srgbClr val="E8624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18608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3504" y="950976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third of our food is wasted — mostly at home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640080" y="2057400"/>
            <a:ext cx="3401568" cy="2286000"/>
          </a:xfrm>
          <a:prstGeom prst="roundRect">
            <a:avLst>
              <a:gd name="adj" fmla="val 5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96112" y="228600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6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~1/3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96112" y="3154680"/>
            <a:ext cx="2926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food produced is lost or wasted (FAO)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370832" y="2057400"/>
            <a:ext cx="3401568" cy="2286000"/>
          </a:xfrm>
          <a:prstGeom prst="roundRect">
            <a:avLst>
              <a:gd name="adj" fmla="val 5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26864" y="228600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6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626864" y="3154680"/>
            <a:ext cx="2926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 are among the largest single contributors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101584" y="2057400"/>
            <a:ext cx="3401568" cy="2286000"/>
          </a:xfrm>
          <a:prstGeom prst="roundRect">
            <a:avLst>
              <a:gd name="adj" fmla="val 5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57616" y="228600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8357616" y="3154680"/>
            <a:ext cx="2926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cause at home: bought, forgotten, expired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40080" y="4736592"/>
            <a:ext cx="10881360" cy="1188720"/>
          </a:xfrm>
          <a:prstGeom prst="roundRect">
            <a:avLst>
              <a:gd name="adj" fmla="val 10000"/>
            </a:avLst>
          </a:prstGeom>
          <a:solidFill>
            <a:srgbClr val="1F5D33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60120" y="502920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50292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000000"/>
                </a:solidFill>
              </a:rPr>
              <a:t>💡</a:t>
            </a:r>
            <a:endParaRPr lang="en-US" sz="1980" dirty="0"/>
          </a:p>
        </p:txBody>
      </p:sp>
      <p:sp>
        <p:nvSpPr>
          <p:cNvPr id="21" name="Text 19"/>
          <p:cNvSpPr/>
          <p:nvPr/>
        </p:nvSpPr>
        <p:spPr>
          <a:xfrm>
            <a:off x="1783080" y="4736592"/>
            <a:ext cx="9509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an information &amp; attention problem — not a preservation problem.  </a:t>
            </a:r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B5E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exactly what an app can fix.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0080" y="6053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FAO — Global Food Losses &amp; Food Waste · UNEP — Food Waste Index Report.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349240"/>
            <a:ext cx="3200400" cy="3200400"/>
          </a:xfrm>
          <a:prstGeom prst="ellipse">
            <a:avLst/>
          </a:prstGeom>
          <a:solidFill>
            <a:srgbClr val="ECF3DF"/>
          </a:solidFill>
          <a:ln/>
        </p:spPr>
      </p:sp>
      <p:sp>
        <p:nvSpPr>
          <p:cNvPr id="3" name="Shape 1"/>
          <p:cNvSpPr/>
          <p:nvPr/>
        </p:nvSpPr>
        <p:spPr>
          <a:xfrm>
            <a:off x="-868680" y="-868680"/>
            <a:ext cx="2103120" cy="2103120"/>
          </a:xfrm>
          <a:prstGeom prst="ellipse">
            <a:avLst/>
          </a:prstGeom>
          <a:solidFill>
            <a:srgbClr val="EDF3E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Kulpio</a:t>
            </a:r>
            <a:pPr indent="0" marL="0">
              <a:buNone/>
            </a:pPr>
            <a:r>
              <a:rPr lang="en-US" sz="900" dirty="0">
                <a:solidFill>
                  <a:srgbClr val="9AA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food-freshness tracker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528816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502920"/>
            <a:ext cx="2354580" cy="384048"/>
          </a:xfrm>
          <a:prstGeom prst="roundRect">
            <a:avLst>
              <a:gd name="adj" fmla="val 50000"/>
            </a:avLst>
          </a:prstGeom>
          <a:solidFill>
            <a:srgbClr val="B5E04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23545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GLOBAL GOALS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3504" y="950976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Sustainable Development Goals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640080" y="2057400"/>
            <a:ext cx="3520440" cy="2697480"/>
          </a:xfrm>
          <a:prstGeom prst="roundRect">
            <a:avLst>
              <a:gd name="adj" fmla="val 4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2331720"/>
            <a:ext cx="960120" cy="960120"/>
          </a:xfrm>
          <a:prstGeom prst="roundRect">
            <a:avLst>
              <a:gd name="adj" fmla="val 13333"/>
            </a:avLst>
          </a:prstGeom>
          <a:solidFill>
            <a:srgbClr val="BF8B2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4688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2651760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2057400" y="2395728"/>
            <a:ext cx="1367028" cy="384048"/>
          </a:xfrm>
          <a:prstGeom prst="roundRect">
            <a:avLst>
              <a:gd name="adj" fmla="val 50000"/>
            </a:avLst>
          </a:prstGeom>
          <a:solidFill>
            <a:srgbClr val="B5E048"/>
          </a:solidFill>
          <a:ln/>
        </p:spPr>
      </p:sp>
      <p:sp>
        <p:nvSpPr>
          <p:cNvPr id="14" name="Text 12"/>
          <p:cNvSpPr/>
          <p:nvPr/>
        </p:nvSpPr>
        <p:spPr>
          <a:xfrm>
            <a:off x="2057400" y="2395728"/>
            <a:ext cx="13670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345643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Consumption &amp; Production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914400" y="41148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Kulpio's core mission — cut the food households throw away.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329684" y="2057400"/>
            <a:ext cx="3520440" cy="2697480"/>
          </a:xfrm>
          <a:prstGeom prst="roundRect">
            <a:avLst>
              <a:gd name="adj" fmla="val 4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04004" y="2331720"/>
            <a:ext cx="960120" cy="960120"/>
          </a:xfrm>
          <a:prstGeom prst="roundRect">
            <a:avLst>
              <a:gd name="adj" fmla="val 13333"/>
            </a:avLst>
          </a:prstGeom>
          <a:solidFill>
            <a:srgbClr val="DDA63A"/>
          </a:solidFill>
          <a:ln/>
        </p:spPr>
      </p:sp>
      <p:sp>
        <p:nvSpPr>
          <p:cNvPr id="19" name="Text 17"/>
          <p:cNvSpPr/>
          <p:nvPr/>
        </p:nvSpPr>
        <p:spPr>
          <a:xfrm>
            <a:off x="4604004" y="24688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04004" y="2651760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4604004" y="345643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Hunger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4604004" y="41148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more of the food we buy; value it instead of binning it.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019288" y="2057400"/>
            <a:ext cx="3520440" cy="2697480"/>
          </a:xfrm>
          <a:prstGeom prst="roundRect">
            <a:avLst>
              <a:gd name="adj" fmla="val 4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293608" y="2331720"/>
            <a:ext cx="960120" cy="960120"/>
          </a:xfrm>
          <a:prstGeom prst="roundRect">
            <a:avLst>
              <a:gd name="adj" fmla="val 13333"/>
            </a:avLst>
          </a:prstGeom>
          <a:solidFill>
            <a:srgbClr val="3F7E44"/>
          </a:solidFill>
          <a:ln/>
        </p:spPr>
      </p:sp>
      <p:sp>
        <p:nvSpPr>
          <p:cNvPr id="25" name="Text 23"/>
          <p:cNvSpPr/>
          <p:nvPr/>
        </p:nvSpPr>
        <p:spPr>
          <a:xfrm>
            <a:off x="8293608" y="24688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93608" y="2651760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8293608" y="345643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Action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8293608" y="41148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wasted food means fewer needless food-related emissions.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0080" y="5029200"/>
            <a:ext cx="10881360" cy="1005840"/>
          </a:xfrm>
          <a:prstGeom prst="roundRect">
            <a:avLst>
              <a:gd name="adj" fmla="val 11818"/>
            </a:avLst>
          </a:prstGeom>
          <a:solidFill>
            <a:srgbClr val="1F5D33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32688" y="5221224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932688" y="52212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60" dirty="0">
                <a:solidFill>
                  <a:srgbClr val="000000"/>
                </a:solidFill>
              </a:rPr>
              <a:t>🎯</a:t>
            </a:r>
            <a:endParaRPr lang="en-US" sz="1860" dirty="0"/>
          </a:p>
        </p:txBody>
      </p:sp>
      <p:sp>
        <p:nvSpPr>
          <p:cNvPr id="32" name="Text 30"/>
          <p:cNvSpPr/>
          <p:nvPr/>
        </p:nvSpPr>
        <p:spPr>
          <a:xfrm>
            <a:off x="1691640" y="50292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B5E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Target 12.3:  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halve per-capita global food waste by 2030. Kulpio goes straight at household waste — the largest, most-forgettable slice.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349240"/>
            <a:ext cx="3200400" cy="3200400"/>
          </a:xfrm>
          <a:prstGeom prst="ellipse">
            <a:avLst/>
          </a:prstGeom>
          <a:solidFill>
            <a:srgbClr val="ECF3DF"/>
          </a:solidFill>
          <a:ln/>
        </p:spPr>
      </p:sp>
      <p:sp>
        <p:nvSpPr>
          <p:cNvPr id="3" name="Shape 1"/>
          <p:cNvSpPr/>
          <p:nvPr/>
        </p:nvSpPr>
        <p:spPr>
          <a:xfrm>
            <a:off x="-868680" y="-868680"/>
            <a:ext cx="2103120" cy="2103120"/>
          </a:xfrm>
          <a:prstGeom prst="ellipse">
            <a:avLst/>
          </a:prstGeom>
          <a:solidFill>
            <a:srgbClr val="EDF3E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Kulpio</a:t>
            </a:r>
            <a:pPr indent="0" marL="0">
              <a:buNone/>
            </a:pPr>
            <a:r>
              <a:rPr lang="en-US" sz="900" dirty="0">
                <a:solidFill>
                  <a:srgbClr val="9AA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food-freshness tracker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528816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502920"/>
            <a:ext cx="1490472" cy="384048"/>
          </a:xfrm>
          <a:prstGeom prst="roundRect">
            <a:avLst>
              <a:gd name="adj" fmla="val 50000"/>
            </a:avLst>
          </a:prstGeom>
          <a:solidFill>
            <a:srgbClr val="B5E04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1490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3504" y="950976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it, know what's going off, cook it first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640080" y="2011680"/>
            <a:ext cx="3401568" cy="3703320"/>
          </a:xfrm>
          <a:prstGeom prst="roundRect">
            <a:avLst>
              <a:gd name="adj" fmla="val 34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32688" y="2304288"/>
            <a:ext cx="713232" cy="713232"/>
          </a:xfrm>
          <a:prstGeom prst="ellipse">
            <a:avLst/>
          </a:prstGeom>
          <a:solidFill>
            <a:srgbClr val="1F5D33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32688" y="230428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28" dirty="0"/>
          </a:p>
        </p:txBody>
      </p:sp>
      <p:sp>
        <p:nvSpPr>
          <p:cNvPr id="12" name="Shape 10"/>
          <p:cNvSpPr/>
          <p:nvPr/>
        </p:nvSpPr>
        <p:spPr>
          <a:xfrm>
            <a:off x="2926080" y="2340864"/>
            <a:ext cx="640080" cy="640080"/>
          </a:xfrm>
          <a:prstGeom prst="ellipse">
            <a:avLst/>
          </a:prstGeom>
          <a:solidFill>
            <a:srgbClr val="E9F4CC"/>
          </a:solidFill>
          <a:ln/>
        </p:spPr>
      </p:sp>
      <p:sp>
        <p:nvSpPr>
          <p:cNvPr id="13" name="Text 11"/>
          <p:cNvSpPr/>
          <p:nvPr/>
        </p:nvSpPr>
        <p:spPr>
          <a:xfrm>
            <a:off x="2926080" y="234086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📥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32688" y="32918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 seconds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32688" y="379476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 barcode, read a label or receipt with AI, or paste a list — no typing marathon.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370832" y="2011680"/>
            <a:ext cx="3401568" cy="3703320"/>
          </a:xfrm>
          <a:prstGeom prst="roundRect">
            <a:avLst>
              <a:gd name="adj" fmla="val 34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304288"/>
            <a:ext cx="713232" cy="713232"/>
          </a:xfrm>
          <a:prstGeom prst="ellipse">
            <a:avLst/>
          </a:prstGeom>
          <a:solidFill>
            <a:srgbClr val="1F5D33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63440" y="230428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28" dirty="0"/>
          </a:p>
        </p:txBody>
      </p:sp>
      <p:sp>
        <p:nvSpPr>
          <p:cNvPr id="19" name="Shape 17"/>
          <p:cNvSpPr/>
          <p:nvPr/>
        </p:nvSpPr>
        <p:spPr>
          <a:xfrm>
            <a:off x="6656832" y="2340864"/>
            <a:ext cx="640080" cy="640080"/>
          </a:xfrm>
          <a:prstGeom prst="ellipse">
            <a:avLst/>
          </a:prstGeom>
          <a:solidFill>
            <a:srgbClr val="E9F4CC"/>
          </a:solidFill>
          <a:ln/>
        </p:spPr>
      </p:sp>
      <p:sp>
        <p:nvSpPr>
          <p:cNvPr id="20" name="Text 18"/>
          <p:cNvSpPr/>
          <p:nvPr/>
        </p:nvSpPr>
        <p:spPr>
          <a:xfrm>
            <a:off x="6656832" y="234086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⏳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4663440" y="32918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what expires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663440" y="379476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dates beat estimates. Live freshness colours and a 'week-ahead' strip.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8101584" y="2011680"/>
            <a:ext cx="3401568" cy="3703320"/>
          </a:xfrm>
          <a:prstGeom prst="roundRect">
            <a:avLst>
              <a:gd name="adj" fmla="val 34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394192" y="2304288"/>
            <a:ext cx="713232" cy="713232"/>
          </a:xfrm>
          <a:prstGeom prst="ellipse">
            <a:avLst/>
          </a:prstGeom>
          <a:solidFill>
            <a:srgbClr val="1F5D33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394192" y="230428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28" dirty="0"/>
          </a:p>
        </p:txBody>
      </p:sp>
      <p:sp>
        <p:nvSpPr>
          <p:cNvPr id="26" name="Shape 24"/>
          <p:cNvSpPr/>
          <p:nvPr/>
        </p:nvSpPr>
        <p:spPr>
          <a:xfrm>
            <a:off x="10387584" y="2340864"/>
            <a:ext cx="640080" cy="640080"/>
          </a:xfrm>
          <a:prstGeom prst="ellipse">
            <a:avLst/>
          </a:prstGeom>
          <a:solidFill>
            <a:srgbClr val="E9F4CC"/>
          </a:solidFill>
          <a:ln/>
        </p:spPr>
      </p:sp>
      <p:sp>
        <p:nvSpPr>
          <p:cNvPr id="27" name="Text 25"/>
          <p:cNvSpPr/>
          <p:nvPr/>
        </p:nvSpPr>
        <p:spPr>
          <a:xfrm>
            <a:off x="10387584" y="234086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🍳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8394192" y="32918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in time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394192" y="379476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 what's going off first; mark Used / Wasted / Froze and watch the money you save.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349240"/>
            <a:ext cx="3200400" cy="3200400"/>
          </a:xfrm>
          <a:prstGeom prst="ellipse">
            <a:avLst/>
          </a:prstGeom>
          <a:solidFill>
            <a:srgbClr val="ECF3DF"/>
          </a:solidFill>
          <a:ln/>
        </p:spPr>
      </p:sp>
      <p:sp>
        <p:nvSpPr>
          <p:cNvPr id="3" name="Shape 1"/>
          <p:cNvSpPr/>
          <p:nvPr/>
        </p:nvSpPr>
        <p:spPr>
          <a:xfrm>
            <a:off x="-868680" y="-868680"/>
            <a:ext cx="2103120" cy="2103120"/>
          </a:xfrm>
          <a:prstGeom prst="ellipse">
            <a:avLst/>
          </a:prstGeom>
          <a:solidFill>
            <a:srgbClr val="EDF3E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Kulpio</a:t>
            </a:r>
            <a:pPr indent="0" marL="0">
              <a:buNone/>
            </a:pPr>
            <a:r>
              <a:rPr lang="en-US" sz="900" dirty="0">
                <a:solidFill>
                  <a:srgbClr val="9AA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food-freshness tracker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528816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502920"/>
            <a:ext cx="1243584" cy="384048"/>
          </a:xfrm>
          <a:prstGeom prst="roundRect">
            <a:avLst>
              <a:gd name="adj" fmla="val 50000"/>
            </a:avLst>
          </a:prstGeom>
          <a:solidFill>
            <a:srgbClr val="B5E04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3504" y="950976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app, offline, on any phone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896112" y="1719072"/>
            <a:ext cx="2134667" cy="4471416"/>
          </a:xfrm>
          <a:prstGeom prst="roundRect">
            <a:avLst>
              <a:gd name="adj" fmla="val 6854"/>
            </a:avLst>
          </a:prstGeom>
          <a:solidFill>
            <a:srgbClr val="05100A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</p:sp>
      <p:pic>
        <p:nvPicPr>
          <p:cNvPr id="10" name="Image 0" descr="/tmp/claude-0/-home-user-kulpio/cf44c086-5ab5-569b-8ab9-43d11bcfa910/scratchpad/shots/ls-sc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83080"/>
            <a:ext cx="2006651" cy="43434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462272" y="1719072"/>
            <a:ext cx="2134667" cy="4471416"/>
          </a:xfrm>
          <a:prstGeom prst="roundRect">
            <a:avLst>
              <a:gd name="adj" fmla="val 6854"/>
            </a:avLst>
          </a:prstGeom>
          <a:solidFill>
            <a:srgbClr val="05100A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</p:sp>
      <p:pic>
        <p:nvPicPr>
          <p:cNvPr id="12" name="Image 1" descr="/tmp/claude-0/-home-user-kulpio/cf44c086-5ab5-569b-8ab9-43d11bcfa910/scratchpad/shots/ls-impa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783080"/>
            <a:ext cx="2006651" cy="43434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028432" y="1719072"/>
            <a:ext cx="2134667" cy="4471416"/>
          </a:xfrm>
          <a:prstGeom prst="roundRect">
            <a:avLst>
              <a:gd name="adj" fmla="val 6854"/>
            </a:avLst>
          </a:prstGeom>
          <a:solidFill>
            <a:srgbClr val="05100A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</p:sp>
      <p:pic>
        <p:nvPicPr>
          <p:cNvPr id="14" name="Image 2" descr="/tmp/claude-0/-home-user-kulpio/cf44c086-5ab5-569b-8ab9-43d11bcfa910/scratchpad/shots/ls-disco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1783080"/>
            <a:ext cx="2006651" cy="43434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0120" y="62636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→ product card
</a:t>
            </a:r>
            <a:pPr algn="ctr" indent="0" marL="0">
              <a:buNone/>
            </a:pPr>
            <a:r>
              <a:rPr lang="en-US" sz="11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Nutri-Score, allergens, verdict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526280" y="62636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impact
</a:t>
            </a:r>
            <a:pPr algn="ctr" indent="0" marL="0">
              <a:buNone/>
            </a:pPr>
            <a:r>
              <a:rPr lang="en-US" sz="11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cut &amp; money saved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8092440" y="62636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
</a:t>
            </a:r>
            <a:pPr algn="ctr" indent="0" marL="0">
              <a:buNone/>
            </a:pPr>
            <a:r>
              <a:rPr lang="en-US" sz="11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community scans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349240"/>
            <a:ext cx="3200400" cy="3200400"/>
          </a:xfrm>
          <a:prstGeom prst="ellipse">
            <a:avLst/>
          </a:prstGeom>
          <a:solidFill>
            <a:srgbClr val="ECF3DF"/>
          </a:solidFill>
          <a:ln/>
        </p:spPr>
      </p:sp>
      <p:sp>
        <p:nvSpPr>
          <p:cNvPr id="3" name="Shape 1"/>
          <p:cNvSpPr/>
          <p:nvPr/>
        </p:nvSpPr>
        <p:spPr>
          <a:xfrm>
            <a:off x="-868680" y="-868680"/>
            <a:ext cx="2103120" cy="2103120"/>
          </a:xfrm>
          <a:prstGeom prst="ellipse">
            <a:avLst/>
          </a:prstGeom>
          <a:solidFill>
            <a:srgbClr val="EDF3E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Kulpio</a:t>
            </a:r>
            <a:pPr indent="0" marL="0">
              <a:buNone/>
            </a:pPr>
            <a:r>
              <a:rPr lang="en-US" sz="900" dirty="0">
                <a:solidFill>
                  <a:srgbClr val="9AA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food-freshness tracker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528816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502920"/>
            <a:ext cx="2107692" cy="384048"/>
          </a:xfrm>
          <a:prstGeom prst="roundRect">
            <a:avLst>
              <a:gd name="adj" fmla="val 50000"/>
            </a:avLst>
          </a:prstGeom>
          <a:solidFill>
            <a:srgbClr val="B5E04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21076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CLOSER LOOK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3504" y="950976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tour of the app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1234440" y="1673352"/>
            <a:ext cx="1965686" cy="4105656"/>
          </a:xfrm>
          <a:prstGeom prst="roundRect">
            <a:avLst>
              <a:gd name="adj" fmla="val 7443"/>
            </a:avLst>
          </a:prstGeom>
          <a:solidFill>
            <a:srgbClr val="05100A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</p:sp>
      <p:pic>
        <p:nvPicPr>
          <p:cNvPr id="10" name="Image 0" descr="/tmp/claude-0/-home-user-kulpio/cf44c086-5ab5-569b-8ab9-43d11bcfa910/scratchpad/shots/ls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1737360"/>
            <a:ext cx="1837670" cy="3977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70432" y="5943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dashboard
</a:t>
            </a:r>
            <a:pPr algn="ctr" indent="0" marL="0">
              <a:buNone/>
            </a:pPr>
            <a:r>
              <a:rPr lang="en-US" sz="10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week-ahead &amp; fridge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794760" y="1673352"/>
            <a:ext cx="1965686" cy="4105656"/>
          </a:xfrm>
          <a:prstGeom prst="roundRect">
            <a:avLst>
              <a:gd name="adj" fmla="val 7443"/>
            </a:avLst>
          </a:prstGeom>
          <a:solidFill>
            <a:srgbClr val="05100A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</p:sp>
      <p:pic>
        <p:nvPicPr>
          <p:cNvPr id="13" name="Image 1" descr="/tmp/claude-0/-home-user-kulpio/cf44c086-5ab5-569b-8ab9-43d11bcfa910/scratchpad/shots/ls-recip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8768" y="1737360"/>
            <a:ext cx="1837670" cy="3977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30752" y="5943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Recipes
</a:t>
            </a:r>
            <a:pPr algn="ctr" indent="0" marL="0">
              <a:buNone/>
            </a:pPr>
            <a:r>
              <a:rPr lang="en-US" sz="10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 from what you have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355080" y="1673352"/>
            <a:ext cx="1965686" cy="4105656"/>
          </a:xfrm>
          <a:prstGeom prst="roundRect">
            <a:avLst>
              <a:gd name="adj" fmla="val 7443"/>
            </a:avLst>
          </a:prstGeom>
          <a:solidFill>
            <a:srgbClr val="05100A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</p:sp>
      <p:pic>
        <p:nvPicPr>
          <p:cNvPr id="16" name="Image 2" descr="/tmp/claude-0/-home-user-kulpio/cf44c086-5ab5-569b-8ab9-43d11bcfa910/scratchpad/shots/light-detai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1737360"/>
            <a:ext cx="1837670" cy="3977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91072" y="5943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item, one tap
</a:t>
            </a:r>
            <a:pPr algn="ctr" indent="0" marL="0">
              <a:buNone/>
            </a:pPr>
            <a:r>
              <a:rPr lang="en-US" sz="10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edit, price history, storage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915400" y="1673352"/>
            <a:ext cx="1965686" cy="4105656"/>
          </a:xfrm>
          <a:prstGeom prst="roundRect">
            <a:avLst>
              <a:gd name="adj" fmla="val 7443"/>
            </a:avLst>
          </a:prstGeom>
          <a:solidFill>
            <a:srgbClr val="05100A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</p:sp>
      <p:pic>
        <p:nvPicPr>
          <p:cNvPr id="19" name="Image 3" descr="/tmp/claude-0/-home-user-kulpio/cf44c086-5ab5-569b-8ab9-43d11bcfa910/scratchpad/shots/ls-profi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08" y="1737360"/>
            <a:ext cx="1837670" cy="3977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851392" y="5943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&amp; levels
</a:t>
            </a:r>
            <a:pPr algn="ctr" indent="0" marL="0">
              <a:buNone/>
            </a:pPr>
            <a:r>
              <a:rPr lang="en-US" sz="10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achievements, XP &amp; impact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349240"/>
            <a:ext cx="3200400" cy="3200400"/>
          </a:xfrm>
          <a:prstGeom prst="ellipse">
            <a:avLst/>
          </a:prstGeom>
          <a:solidFill>
            <a:srgbClr val="ECF3DF"/>
          </a:solidFill>
          <a:ln/>
        </p:spPr>
      </p:sp>
      <p:sp>
        <p:nvSpPr>
          <p:cNvPr id="3" name="Shape 1"/>
          <p:cNvSpPr/>
          <p:nvPr/>
        </p:nvSpPr>
        <p:spPr>
          <a:xfrm>
            <a:off x="-868680" y="-868680"/>
            <a:ext cx="2103120" cy="2103120"/>
          </a:xfrm>
          <a:prstGeom prst="ellipse">
            <a:avLst/>
          </a:prstGeom>
          <a:solidFill>
            <a:srgbClr val="EDF3E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Kulpio</a:t>
            </a:r>
            <a:pPr indent="0" marL="0">
              <a:buNone/>
            </a:pPr>
            <a:r>
              <a:rPr lang="en-US" sz="900" dirty="0">
                <a:solidFill>
                  <a:srgbClr val="9AA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food-freshness tracker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528816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502920"/>
            <a:ext cx="1490472" cy="384048"/>
          </a:xfrm>
          <a:prstGeom prst="roundRect">
            <a:avLst>
              <a:gd name="adj" fmla="val 50000"/>
            </a:avLst>
          </a:prstGeom>
          <a:solidFill>
            <a:srgbClr val="B5E04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1490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3504" y="950976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Kulpio does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640080" y="1965960"/>
            <a:ext cx="3401568" cy="1847088"/>
          </a:xfrm>
          <a:prstGeom prst="roundRect">
            <a:avLst>
              <a:gd name="adj" fmla="val 64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2240280"/>
            <a:ext cx="603504" cy="603504"/>
          </a:xfrm>
          <a:prstGeom prst="ellipse">
            <a:avLst/>
          </a:prstGeom>
          <a:solidFill>
            <a:srgbClr val="E9F4C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2402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000000"/>
                </a:solidFill>
              </a:rPr>
              <a:t>📷</a:t>
            </a:r>
            <a:endParaRPr lang="en-US" sz="1980" dirty="0"/>
          </a:p>
        </p:txBody>
      </p:sp>
      <p:sp>
        <p:nvSpPr>
          <p:cNvPr id="12" name="Text 10"/>
          <p:cNvSpPr/>
          <p:nvPr/>
        </p:nvSpPr>
        <p:spPr>
          <a:xfrm>
            <a:off x="914400" y="289864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Effortless input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3264408"/>
            <a:ext cx="2907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Barcode, AI label &amp; receipt scan, or paste a list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370832" y="1965960"/>
            <a:ext cx="3401568" cy="1847088"/>
          </a:xfrm>
          <a:prstGeom prst="roundRect">
            <a:avLst>
              <a:gd name="adj" fmla="val 64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45152" y="2240280"/>
            <a:ext cx="603504" cy="603504"/>
          </a:xfrm>
          <a:prstGeom prst="ellipse">
            <a:avLst/>
          </a:prstGeom>
          <a:solidFill>
            <a:srgbClr val="E9F4CC"/>
          </a:solidFill>
          <a:ln/>
        </p:spPr>
      </p:sp>
      <p:sp>
        <p:nvSpPr>
          <p:cNvPr id="16" name="Text 14"/>
          <p:cNvSpPr/>
          <p:nvPr/>
        </p:nvSpPr>
        <p:spPr>
          <a:xfrm>
            <a:off x="4645152" y="22402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000000"/>
                </a:solidFill>
              </a:rPr>
              <a:t>🧊</a:t>
            </a:r>
            <a:endParaRPr lang="en-US" sz="1980" dirty="0"/>
          </a:p>
        </p:txBody>
      </p:sp>
      <p:sp>
        <p:nvSpPr>
          <p:cNvPr id="17" name="Text 15"/>
          <p:cNvSpPr/>
          <p:nvPr/>
        </p:nvSpPr>
        <p:spPr>
          <a:xfrm>
            <a:off x="4645152" y="289864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sections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45152" y="3264408"/>
            <a:ext cx="2907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Fridge, freezer &amp; pantry with live freshness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01584" y="1965960"/>
            <a:ext cx="3401568" cy="1847088"/>
          </a:xfrm>
          <a:prstGeom prst="roundRect">
            <a:avLst>
              <a:gd name="adj" fmla="val 64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75904" y="2240280"/>
            <a:ext cx="603504" cy="603504"/>
          </a:xfrm>
          <a:prstGeom prst="ellipse">
            <a:avLst/>
          </a:prstGeom>
          <a:solidFill>
            <a:srgbClr val="E9F4CC"/>
          </a:solidFill>
          <a:ln/>
        </p:spPr>
      </p:sp>
      <p:sp>
        <p:nvSpPr>
          <p:cNvPr id="21" name="Text 19"/>
          <p:cNvSpPr/>
          <p:nvPr/>
        </p:nvSpPr>
        <p:spPr>
          <a:xfrm>
            <a:off x="8375904" y="22402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000000"/>
                </a:solidFill>
              </a:rPr>
              <a:t>🍅</a:t>
            </a:r>
            <a:endParaRPr lang="en-US" sz="1980" dirty="0"/>
          </a:p>
        </p:txBody>
      </p:sp>
      <p:sp>
        <p:nvSpPr>
          <p:cNvPr id="22" name="Text 20"/>
          <p:cNvSpPr/>
          <p:nvPr/>
        </p:nvSpPr>
        <p:spPr>
          <a:xfrm>
            <a:off x="8375904" y="289864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75904" y="3264408"/>
            <a:ext cx="2907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 from your ingredients, with nutrition estimates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4069080"/>
            <a:ext cx="3401568" cy="1847088"/>
          </a:xfrm>
          <a:prstGeom prst="roundRect">
            <a:avLst>
              <a:gd name="adj" fmla="val 64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4400" y="4343400"/>
            <a:ext cx="603504" cy="603504"/>
          </a:xfrm>
          <a:prstGeom prst="ellipse">
            <a:avLst/>
          </a:prstGeom>
          <a:solidFill>
            <a:srgbClr val="E9F4CC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3434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000000"/>
                </a:solidFill>
              </a:rPr>
              <a:t>👥</a:t>
            </a:r>
            <a:endParaRPr lang="en-US" sz="1980" dirty="0"/>
          </a:p>
        </p:txBody>
      </p:sp>
      <p:sp>
        <p:nvSpPr>
          <p:cNvPr id="27" name="Text 25"/>
          <p:cNvSpPr/>
          <p:nvPr/>
        </p:nvSpPr>
        <p:spPr>
          <a:xfrm>
            <a:off x="914400" y="500176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fridge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4400" y="5367528"/>
            <a:ext cx="2907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 links a household + activity feed &amp; chat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370832" y="4069080"/>
            <a:ext cx="3401568" cy="1847088"/>
          </a:xfrm>
          <a:prstGeom prst="roundRect">
            <a:avLst>
              <a:gd name="adj" fmla="val 64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45152" y="4343400"/>
            <a:ext cx="603504" cy="603504"/>
          </a:xfrm>
          <a:prstGeom prst="ellipse">
            <a:avLst/>
          </a:prstGeom>
          <a:solidFill>
            <a:srgbClr val="E9F4CC"/>
          </a:solidFill>
          <a:ln/>
        </p:spPr>
      </p:sp>
      <p:sp>
        <p:nvSpPr>
          <p:cNvPr id="31" name="Text 29"/>
          <p:cNvSpPr/>
          <p:nvPr/>
        </p:nvSpPr>
        <p:spPr>
          <a:xfrm>
            <a:off x="4645152" y="43434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000000"/>
                </a:solidFill>
              </a:rPr>
              <a:t>🏆</a:t>
            </a:r>
            <a:endParaRPr lang="en-US" sz="1980" dirty="0"/>
          </a:p>
        </p:txBody>
      </p:sp>
      <p:sp>
        <p:nvSpPr>
          <p:cNvPr id="32" name="Text 30"/>
          <p:cNvSpPr/>
          <p:nvPr/>
        </p:nvSpPr>
        <p:spPr>
          <a:xfrm>
            <a:off x="4645152" y="500176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645152" y="5367528"/>
            <a:ext cx="2907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Achievements, XP levels, monthly recap &amp; impact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101584" y="4069080"/>
            <a:ext cx="3401568" cy="1847088"/>
          </a:xfrm>
          <a:prstGeom prst="roundRect">
            <a:avLst>
              <a:gd name="adj" fmla="val 64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375904" y="4343400"/>
            <a:ext cx="603504" cy="603504"/>
          </a:xfrm>
          <a:prstGeom prst="ellipse">
            <a:avLst/>
          </a:prstGeom>
          <a:solidFill>
            <a:srgbClr val="E9F4CC"/>
          </a:solidFill>
          <a:ln/>
        </p:spPr>
      </p:sp>
      <p:sp>
        <p:nvSpPr>
          <p:cNvPr id="36" name="Text 34"/>
          <p:cNvSpPr/>
          <p:nvPr/>
        </p:nvSpPr>
        <p:spPr>
          <a:xfrm>
            <a:off x="8375904" y="43434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000000"/>
                </a:solidFill>
              </a:rPr>
              <a:t>🌍</a:t>
            </a:r>
            <a:endParaRPr lang="en-US" sz="1980" dirty="0"/>
          </a:p>
        </p:txBody>
      </p:sp>
      <p:sp>
        <p:nvSpPr>
          <p:cNvPr id="37" name="Text 35"/>
          <p:cNvSpPr/>
          <p:nvPr/>
        </p:nvSpPr>
        <p:spPr>
          <a:xfrm>
            <a:off x="8375904" y="500176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languages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375904" y="5367528"/>
            <a:ext cx="2907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RTL support; installs to the home screen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349240"/>
            <a:ext cx="3200400" cy="3200400"/>
          </a:xfrm>
          <a:prstGeom prst="ellipse">
            <a:avLst/>
          </a:prstGeom>
          <a:solidFill>
            <a:srgbClr val="ECF3DF"/>
          </a:solidFill>
          <a:ln/>
        </p:spPr>
      </p:sp>
      <p:sp>
        <p:nvSpPr>
          <p:cNvPr id="3" name="Shape 1"/>
          <p:cNvSpPr/>
          <p:nvPr/>
        </p:nvSpPr>
        <p:spPr>
          <a:xfrm>
            <a:off x="-868680" y="-868680"/>
            <a:ext cx="2103120" cy="2103120"/>
          </a:xfrm>
          <a:prstGeom prst="ellipse">
            <a:avLst/>
          </a:prstGeom>
          <a:solidFill>
            <a:srgbClr val="EDF3E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Kulpio</a:t>
            </a:r>
            <a:pPr indent="0" marL="0">
              <a:buNone/>
            </a:pPr>
            <a:r>
              <a:rPr lang="en-US" sz="900" dirty="0">
                <a:solidFill>
                  <a:srgbClr val="9AA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food-freshness tracker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528816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502920"/>
            <a:ext cx="1860804" cy="384048"/>
          </a:xfrm>
          <a:prstGeom prst="roundRect">
            <a:avLst>
              <a:gd name="adj" fmla="val 50000"/>
            </a:avLst>
          </a:prstGeom>
          <a:solidFill>
            <a:srgbClr val="B5E04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18608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3504" y="950976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Kulpio decides when food expires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dates are ground truth — Kulpio only estimates when there's no date to read.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286000"/>
            <a:ext cx="7360920" cy="1078992"/>
          </a:xfrm>
          <a:prstGeom prst="roundRect">
            <a:avLst>
              <a:gd name="adj" fmla="val 110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96112" y="2523744"/>
            <a:ext cx="603504" cy="603504"/>
          </a:xfrm>
          <a:prstGeom prst="ellipse">
            <a:avLst/>
          </a:prstGeom>
          <a:solidFill>
            <a:srgbClr val="1F5D33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96112" y="252374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1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16" dirty="0"/>
          </a:p>
        </p:txBody>
      </p:sp>
      <p:sp>
        <p:nvSpPr>
          <p:cNvPr id="13" name="Text 11"/>
          <p:cNvSpPr/>
          <p:nvPr/>
        </p:nvSpPr>
        <p:spPr>
          <a:xfrm>
            <a:off x="1691640" y="2414016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date wins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343400" y="2414016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from the pack (OCR + model) or typed by you. Always takes priority.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42416" y="33284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1E8D8"/>
                </a:solidFill>
              </a:rPr>
              <a:t>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566160"/>
            <a:ext cx="7360920" cy="1078992"/>
          </a:xfrm>
          <a:prstGeom prst="roundRect">
            <a:avLst>
              <a:gd name="adj" fmla="val 110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96112" y="3803904"/>
            <a:ext cx="603504" cy="603504"/>
          </a:xfrm>
          <a:prstGeom prst="ellipse">
            <a:avLst/>
          </a:prstGeom>
          <a:solidFill>
            <a:srgbClr val="2C6E3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96112" y="380390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1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16" dirty="0"/>
          </a:p>
        </p:txBody>
      </p:sp>
      <p:sp>
        <p:nvSpPr>
          <p:cNvPr id="19" name="Text 17"/>
          <p:cNvSpPr/>
          <p:nvPr/>
        </p:nvSpPr>
        <p:spPr>
          <a:xfrm>
            <a:off x="1691640" y="3694176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shelf-life table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4343400" y="3694176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per-food estimate, adjusted for storage (freezer +~90 d; opened shortens).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42416" y="460857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1E8D8"/>
                </a:solidFill>
              </a:rPr>
              <a:t>▼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846320"/>
            <a:ext cx="7360920" cy="1078992"/>
          </a:xfrm>
          <a:prstGeom prst="roundRect">
            <a:avLst>
              <a:gd name="adj" fmla="val 110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6112" y="5084064"/>
            <a:ext cx="603504" cy="603504"/>
          </a:xfrm>
          <a:prstGeom prst="ellipse">
            <a:avLst/>
          </a:prstGeom>
          <a:solidFill>
            <a:srgbClr val="5B6B57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96112" y="508406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1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16" dirty="0"/>
          </a:p>
        </p:txBody>
      </p:sp>
      <p:sp>
        <p:nvSpPr>
          <p:cNvPr id="25" name="Text 23"/>
          <p:cNvSpPr/>
          <p:nvPr/>
        </p:nvSpPr>
        <p:spPr>
          <a:xfrm>
            <a:off x="1691640" y="4974336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refine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4343400" y="4974336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online, the model refines the estimate from the product name.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183880" y="2286000"/>
            <a:ext cx="3337560" cy="3730752"/>
          </a:xfrm>
          <a:prstGeom prst="roundRect">
            <a:avLst>
              <a:gd name="adj" fmla="val 3562"/>
            </a:avLst>
          </a:prstGeom>
          <a:solidFill>
            <a:srgbClr val="1F5D33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458200" y="252374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E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degrades gracefully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458200" y="3145536"/>
            <a:ext cx="2788920" cy="713232"/>
          </a:xfrm>
          <a:prstGeom prst="roundRect">
            <a:avLst>
              <a:gd name="adj" fmla="val 12821"/>
            </a:avLst>
          </a:prstGeom>
          <a:solidFill>
            <a:srgbClr val="2C6E3F"/>
          </a:solidFill>
          <a:ln/>
        </p:spPr>
      </p:sp>
      <p:sp>
        <p:nvSpPr>
          <p:cNvPr id="30" name="Text 28"/>
          <p:cNvSpPr/>
          <p:nvPr/>
        </p:nvSpPr>
        <p:spPr>
          <a:xfrm>
            <a:off x="8613648" y="3145536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cloud AI model  (top quality)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458200" y="380390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5E048"/>
                </a:solidFill>
              </a:rPr>
              <a:t>↓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458200" y="4059936"/>
            <a:ext cx="2788920" cy="713232"/>
          </a:xfrm>
          <a:prstGeom prst="roundRect">
            <a:avLst>
              <a:gd name="adj" fmla="val 12821"/>
            </a:avLst>
          </a:prstGeom>
          <a:solidFill>
            <a:srgbClr val="2C6E3F"/>
          </a:solidFill>
          <a:ln/>
        </p:spPr>
      </p:sp>
      <p:sp>
        <p:nvSpPr>
          <p:cNvPr id="33" name="Text 31"/>
          <p:cNvSpPr/>
          <p:nvPr/>
        </p:nvSpPr>
        <p:spPr>
          <a:xfrm>
            <a:off x="8613648" y="4059936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Workers AI — Llama  (free)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458200" y="471830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5E048"/>
                </a:solidFill>
              </a:rPr>
              <a:t>↓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458200" y="4974336"/>
            <a:ext cx="2788920" cy="713232"/>
          </a:xfrm>
          <a:prstGeom prst="roundRect">
            <a:avLst>
              <a:gd name="adj" fmla="val 12821"/>
            </a:avLst>
          </a:prstGeom>
          <a:solidFill>
            <a:srgbClr val="14301C"/>
          </a:solidFill>
          <a:ln/>
        </p:spPr>
      </p:sp>
      <p:sp>
        <p:nvSpPr>
          <p:cNvPr id="36" name="Text 34"/>
          <p:cNvSpPr/>
          <p:nvPr/>
        </p:nvSpPr>
        <p:spPr>
          <a:xfrm>
            <a:off x="8613648" y="4974336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error — never blocks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349240"/>
            <a:ext cx="3200400" cy="3200400"/>
          </a:xfrm>
          <a:prstGeom prst="ellipse">
            <a:avLst/>
          </a:prstGeom>
          <a:solidFill>
            <a:srgbClr val="ECF3DF"/>
          </a:solidFill>
          <a:ln/>
        </p:spPr>
      </p:sp>
      <p:sp>
        <p:nvSpPr>
          <p:cNvPr id="3" name="Shape 1"/>
          <p:cNvSpPr/>
          <p:nvPr/>
        </p:nvSpPr>
        <p:spPr>
          <a:xfrm>
            <a:off x="-868680" y="-868680"/>
            <a:ext cx="2103120" cy="2103120"/>
          </a:xfrm>
          <a:prstGeom prst="ellipse">
            <a:avLst/>
          </a:prstGeom>
          <a:solidFill>
            <a:srgbClr val="EDF3E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Kulpio</a:t>
            </a:r>
            <a:pPr indent="0" marL="0">
              <a:buNone/>
            </a:pPr>
            <a:r>
              <a:rPr lang="en-US" sz="900" dirty="0">
                <a:solidFill>
                  <a:srgbClr val="9AA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food-freshness tracker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528816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502920"/>
            <a:ext cx="2231136" cy="384048"/>
          </a:xfrm>
          <a:prstGeom prst="roundRect">
            <a:avLst>
              <a:gd name="adj" fmla="val 50000"/>
            </a:avLst>
          </a:prstGeom>
          <a:solidFill>
            <a:srgbClr val="B5E04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3504" y="950976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 one offline file + one worker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640080" y="2011680"/>
            <a:ext cx="5303520" cy="3200400"/>
          </a:xfrm>
          <a:prstGeom prst="roundRect">
            <a:avLst>
              <a:gd name="adj" fmla="val 3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011680"/>
            <a:ext cx="5303520" cy="566928"/>
          </a:xfrm>
          <a:prstGeom prst="roundRect">
            <a:avLst>
              <a:gd name="adj" fmla="val 20968"/>
            </a:avLst>
          </a:prstGeom>
          <a:solidFill>
            <a:srgbClr val="1F5D33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01168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Client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276148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E048"/>
                </a:solidFill>
              </a:rPr>
              <a:t>•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07008" y="27614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static HTML  </a:t>
            </a:r>
            <a:pPr indent="0" marL="0"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~1.3 MB — markup, CSS, JS, 33 langs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32688" y="335584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E048"/>
                </a:solidFill>
              </a:rPr>
              <a:t>•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33558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build step  </a:t>
            </a:r>
            <a:pPr indent="0" marL="0"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framework, no bundler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32688" y="395020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E048"/>
                </a:solidFill>
              </a:rPr>
              <a:t>•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07008" y="39502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  </a:t>
            </a:r>
            <a:pPr indent="0" marL="0"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precache → fully offline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32688" y="454456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E048"/>
                </a:solidFill>
              </a:rPr>
              <a:t>•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07008" y="45445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Crypto  </a:t>
            </a:r>
            <a:pPr indent="0" marL="0"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hashing &amp; secure tokens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17920" y="2011680"/>
            <a:ext cx="5303520" cy="3200400"/>
          </a:xfrm>
          <a:prstGeom prst="roundRect">
            <a:avLst>
              <a:gd name="adj" fmla="val 3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2011680"/>
            <a:ext cx="5303520" cy="566928"/>
          </a:xfrm>
          <a:prstGeom prst="roundRect">
            <a:avLst>
              <a:gd name="adj" fmla="val 20968"/>
            </a:avLst>
          </a:prstGeom>
          <a:solidFill>
            <a:srgbClr val="2C6E3F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201168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Backend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10528" y="276148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E048"/>
                </a:solidFill>
              </a:rPr>
              <a:t>•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84848" y="27614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Worker  </a:t>
            </a:r>
            <a:pPr indent="0" marL="0"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serves the app AND the API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510528" y="335584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E048"/>
                </a:solidFill>
              </a:rPr>
              <a:t>•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84848" y="33558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(SQLite)  </a:t>
            </a:r>
            <a:pPr indent="0" marL="0"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accounts, sync, households, community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395020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E048"/>
                </a:solidFill>
              </a:rPr>
              <a:t>•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84848" y="39502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Push (VAPID)  </a:t>
            </a:r>
            <a:pPr indent="0" marL="0"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daily expiry reminders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510528" y="454456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E048"/>
                </a:solidFill>
              </a:rPr>
              <a:t>•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784848" y="45445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Rate-limited auth  </a:t>
            </a:r>
            <a:pPr indent="0" marL="0"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PBKDF2 · 5 tries / 15 min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0080" y="5440680"/>
            <a:ext cx="10881360" cy="603504"/>
          </a:xfrm>
          <a:prstGeom prst="roundRect">
            <a:avLst>
              <a:gd name="adj" fmla="val 19697"/>
            </a:avLst>
          </a:prstGeom>
          <a:solidFill>
            <a:srgbClr val="1F5D33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14400" y="5440680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E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 </a:t>
            </a:r>
            <a:pPr indent="0" marL="0">
              <a:buNone/>
            </a:pPr>
            <a:r>
              <a:rPr lang="en-US" sz="1250" dirty="0">
                <a:solidFill>
                  <a:srgbClr val="CBD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Cloudflare Worker serves static assets + API on a single origin — installs from static hosting, runs offline.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349240"/>
            <a:ext cx="3200400" cy="3200400"/>
          </a:xfrm>
          <a:prstGeom prst="ellipse">
            <a:avLst/>
          </a:prstGeom>
          <a:solidFill>
            <a:srgbClr val="ECF3DF"/>
          </a:solidFill>
          <a:ln/>
        </p:spPr>
      </p:sp>
      <p:sp>
        <p:nvSpPr>
          <p:cNvPr id="3" name="Shape 1"/>
          <p:cNvSpPr/>
          <p:nvPr/>
        </p:nvSpPr>
        <p:spPr>
          <a:xfrm>
            <a:off x="-868680" y="-868680"/>
            <a:ext cx="2103120" cy="2103120"/>
          </a:xfrm>
          <a:prstGeom prst="ellipse">
            <a:avLst/>
          </a:prstGeom>
          <a:solidFill>
            <a:srgbClr val="EDF3E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Kulpio</a:t>
            </a:r>
            <a:pPr indent="0" marL="0">
              <a:buNone/>
            </a:pPr>
            <a:r>
              <a:rPr lang="en-US" sz="900" dirty="0">
                <a:solidFill>
                  <a:srgbClr val="9AA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food-freshness tracker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528816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502920"/>
            <a:ext cx="1243584" cy="384048"/>
          </a:xfrm>
          <a:prstGeom prst="roundRect">
            <a:avLst>
              <a:gd name="adj" fmla="val 50000"/>
            </a:avLst>
          </a:prstGeom>
          <a:solidFill>
            <a:srgbClr val="B5E04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3504" y="950976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savings — and how we'll measure it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640080" y="1810512"/>
            <a:ext cx="4329684" cy="384048"/>
          </a:xfrm>
          <a:prstGeom prst="roundRect">
            <a:avLst>
              <a:gd name="adj" fmla="val 50000"/>
            </a:avLst>
          </a:prstGeom>
          <a:solidFill>
            <a:srgbClr val="F0A83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810512"/>
            <a:ext cx="43296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· MODEL, NOT A STUDY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02920" y="2377440"/>
          <a:ext cx="61264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6903720" y="2377440"/>
            <a:ext cx="4617720" cy="35661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178040" y="26060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mid-range 30% reminder effectiveness: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7178040" y="3127248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30%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fewer wasted items
</a:t>
            </a:r>
            <a:pPr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F0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€10–11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saved / household / month
</a:t>
            </a:r>
            <a:pPr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F0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€128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household / year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7178040" y="4617720"/>
            <a:ext cx="4160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for real by a pilot: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within-subject micro-study (baseline vs. Kulpio week, N = 3–15) using the app's built-in CSV export.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349240"/>
            <a:ext cx="3200400" cy="3200400"/>
          </a:xfrm>
          <a:prstGeom prst="ellipse">
            <a:avLst/>
          </a:prstGeom>
          <a:solidFill>
            <a:srgbClr val="ECF3DF"/>
          </a:solidFill>
          <a:ln/>
        </p:spPr>
      </p:sp>
      <p:sp>
        <p:nvSpPr>
          <p:cNvPr id="3" name="Shape 1"/>
          <p:cNvSpPr/>
          <p:nvPr/>
        </p:nvSpPr>
        <p:spPr>
          <a:xfrm>
            <a:off x="-868680" y="-868680"/>
            <a:ext cx="2103120" cy="2103120"/>
          </a:xfrm>
          <a:prstGeom prst="ellipse">
            <a:avLst/>
          </a:prstGeom>
          <a:solidFill>
            <a:srgbClr val="EDF3E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Kulpio</a:t>
            </a:r>
            <a:pPr indent="0" marL="0">
              <a:buNone/>
            </a:pPr>
            <a:r>
              <a:rPr lang="en-US" sz="900" dirty="0">
                <a:solidFill>
                  <a:srgbClr val="9AA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food-freshness tracker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528816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502920"/>
            <a:ext cx="2724912" cy="384048"/>
          </a:xfrm>
          <a:prstGeom prst="roundRect">
            <a:avLst>
              <a:gd name="adj" fmla="val 50000"/>
            </a:avLst>
          </a:prstGeom>
          <a:solidFill>
            <a:srgbClr val="B5E04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SECURITY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3504" y="950976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by design, hardened by default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640080" y="2057400"/>
            <a:ext cx="5212080" cy="1600200"/>
          </a:xfrm>
          <a:prstGeom prst="roundRect">
            <a:avLst>
              <a:gd name="adj" fmla="val 7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2560320"/>
            <a:ext cx="603504" cy="603504"/>
          </a:xfrm>
          <a:prstGeom prst="ellipse">
            <a:avLst/>
          </a:prstGeom>
          <a:solidFill>
            <a:srgbClr val="E9F4C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56032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000000"/>
                </a:solidFill>
              </a:rPr>
              <a:t>🔒</a:t>
            </a:r>
            <a:endParaRPr lang="en-US" sz="1980" dirty="0"/>
          </a:p>
        </p:txBody>
      </p:sp>
      <p:sp>
        <p:nvSpPr>
          <p:cNvPr id="12" name="Text 10"/>
          <p:cNvSpPr/>
          <p:nvPr/>
        </p:nvSpPr>
        <p:spPr>
          <a:xfrm>
            <a:off x="1737360" y="231343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37360" y="2715768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fridge stays in the browser — nothing leaves unless you choose a networked feature.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26480" y="2057400"/>
            <a:ext cx="5212080" cy="1600200"/>
          </a:xfrm>
          <a:prstGeom prst="roundRect">
            <a:avLst>
              <a:gd name="adj" fmla="val 7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2560320"/>
            <a:ext cx="603504" cy="603504"/>
          </a:xfrm>
          <a:prstGeom prst="ellipse">
            <a:avLst/>
          </a:prstGeom>
          <a:solidFill>
            <a:srgbClr val="E9F4C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256032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000000"/>
                </a:solidFill>
              </a:rPr>
              <a:t>📤</a:t>
            </a:r>
            <a:endParaRPr lang="en-US" sz="1980" dirty="0"/>
          </a:p>
        </p:txBody>
      </p:sp>
      <p:sp>
        <p:nvSpPr>
          <p:cNvPr id="17" name="Text 15"/>
          <p:cNvSpPr/>
          <p:nvPr/>
        </p:nvSpPr>
        <p:spPr>
          <a:xfrm>
            <a:off x="7223760" y="231343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export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223760" y="2715768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downloads everything the app holds about you as JSON.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931920"/>
            <a:ext cx="5212080" cy="1600200"/>
          </a:xfrm>
          <a:prstGeom prst="roundRect">
            <a:avLst>
              <a:gd name="adj" fmla="val 7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4434840"/>
            <a:ext cx="603504" cy="603504"/>
          </a:xfrm>
          <a:prstGeom prst="ellipse">
            <a:avLst/>
          </a:prstGeom>
          <a:solidFill>
            <a:srgbClr val="E9F4CC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4348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000000"/>
                </a:solidFill>
              </a:rPr>
              <a:t>🗑️</a:t>
            </a:r>
            <a:endParaRPr lang="en-US" sz="1980" dirty="0"/>
          </a:p>
        </p:txBody>
      </p:sp>
      <p:sp>
        <p:nvSpPr>
          <p:cNvPr id="22" name="Text 20"/>
          <p:cNvSpPr/>
          <p:nvPr/>
        </p:nvSpPr>
        <p:spPr>
          <a:xfrm>
            <a:off x="1737360" y="41879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deletion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737360" y="4590288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account wipes the server account, sessions &amp; synced data.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26480" y="3931920"/>
            <a:ext cx="5212080" cy="1600200"/>
          </a:xfrm>
          <a:prstGeom prst="roundRect">
            <a:avLst>
              <a:gd name="adj" fmla="val 7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0" y="4434840"/>
            <a:ext cx="603504" cy="603504"/>
          </a:xfrm>
          <a:prstGeom prst="ellipse">
            <a:avLst/>
          </a:prstGeom>
          <a:solidFill>
            <a:srgbClr val="E9F4CC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44348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000000"/>
                </a:solidFill>
              </a:rPr>
              <a:t>🛡️</a:t>
            </a:r>
            <a:endParaRPr lang="en-US" sz="1980" dirty="0"/>
          </a:p>
        </p:txBody>
      </p:sp>
      <p:sp>
        <p:nvSpPr>
          <p:cNvPr id="27" name="Text 25"/>
          <p:cNvSpPr/>
          <p:nvPr/>
        </p:nvSpPr>
        <p:spPr>
          <a:xfrm>
            <a:off x="7223760" y="41879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 auth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223760" y="4590288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 hashing, opaque tokens, and login rate-limiting (5 / 15 min).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349240"/>
            <a:ext cx="3200400" cy="3200400"/>
          </a:xfrm>
          <a:prstGeom prst="ellipse">
            <a:avLst/>
          </a:prstGeom>
          <a:solidFill>
            <a:srgbClr val="ECF3DF"/>
          </a:solidFill>
          <a:ln/>
        </p:spPr>
      </p:sp>
      <p:sp>
        <p:nvSpPr>
          <p:cNvPr id="3" name="Shape 1"/>
          <p:cNvSpPr/>
          <p:nvPr/>
        </p:nvSpPr>
        <p:spPr>
          <a:xfrm>
            <a:off x="-868680" y="-868680"/>
            <a:ext cx="2103120" cy="2103120"/>
          </a:xfrm>
          <a:prstGeom prst="ellipse">
            <a:avLst/>
          </a:prstGeom>
          <a:solidFill>
            <a:srgbClr val="EDF3E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Kulpio</a:t>
            </a:r>
            <a:pPr indent="0" marL="0">
              <a:buNone/>
            </a:pPr>
            <a:r>
              <a:rPr lang="en-US" sz="900" dirty="0">
                <a:solidFill>
                  <a:srgbClr val="9AA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food-freshness tracker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528816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502920"/>
            <a:ext cx="1860804" cy="384048"/>
          </a:xfrm>
          <a:prstGeom prst="roundRect">
            <a:avLst>
              <a:gd name="adj" fmla="val 50000"/>
            </a:avLst>
          </a:prstGeom>
          <a:solidFill>
            <a:srgbClr val="B5E04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18608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3504" y="950976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evolved — and what I had to solve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640080" y="2148840"/>
            <a:ext cx="2615184" cy="37033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2423160"/>
            <a:ext cx="658368" cy="658368"/>
          </a:xfrm>
          <a:prstGeom prst="ellipse">
            <a:avLst/>
          </a:prstGeom>
          <a:solidFill>
            <a:srgbClr val="1F5D33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24231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72" dirty="0"/>
          </a:p>
        </p:txBody>
      </p:sp>
      <p:sp>
        <p:nvSpPr>
          <p:cNvPr id="12" name="Text 10"/>
          <p:cNvSpPr/>
          <p:nvPr/>
        </p:nvSpPr>
        <p:spPr>
          <a:xfrm>
            <a:off x="896112" y="320040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core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96112" y="3657600"/>
            <a:ext cx="21579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Single-file PWA + shelf-life table.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96112" y="4389120"/>
            <a:ext cx="2103120" cy="1298448"/>
          </a:xfrm>
          <a:prstGeom prst="roundRect">
            <a:avLst>
              <a:gd name="adj" fmla="val 7042"/>
            </a:avLst>
          </a:prstGeom>
          <a:solidFill>
            <a:srgbClr val="E9F4CC"/>
          </a:solidFill>
          <a:ln/>
        </p:spPr>
      </p:sp>
      <p:sp>
        <p:nvSpPr>
          <p:cNvPr id="15" name="Text 13"/>
          <p:cNvSpPr/>
          <p:nvPr/>
        </p:nvSpPr>
        <p:spPr>
          <a:xfrm>
            <a:off x="1042416" y="4480560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spc="50" kern="0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solved
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to run with no network → service-worker precache.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92424" y="2148840"/>
            <a:ext cx="2615184" cy="37033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66744" y="2423160"/>
            <a:ext cx="658368" cy="658368"/>
          </a:xfrm>
          <a:prstGeom prst="ellipse">
            <a:avLst/>
          </a:prstGeom>
          <a:solidFill>
            <a:srgbClr val="1F5D33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66744" y="24231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72" dirty="0"/>
          </a:p>
        </p:txBody>
      </p:sp>
      <p:sp>
        <p:nvSpPr>
          <p:cNvPr id="19" name="Text 17"/>
          <p:cNvSpPr/>
          <p:nvPr/>
        </p:nvSpPr>
        <p:spPr>
          <a:xfrm>
            <a:off x="3648456" y="320040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 dates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3648456" y="3657600"/>
            <a:ext cx="21579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label reading + estimates.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648456" y="4389120"/>
            <a:ext cx="2103120" cy="1298448"/>
          </a:xfrm>
          <a:prstGeom prst="roundRect">
            <a:avLst>
              <a:gd name="adj" fmla="val 7042"/>
            </a:avLst>
          </a:prstGeom>
          <a:solidFill>
            <a:srgbClr val="E9F4CC"/>
          </a:solidFill>
          <a:ln/>
        </p:spPr>
      </p:sp>
      <p:sp>
        <p:nvSpPr>
          <p:cNvPr id="22" name="Text 20"/>
          <p:cNvSpPr/>
          <p:nvPr/>
        </p:nvSpPr>
        <p:spPr>
          <a:xfrm>
            <a:off x="3794760" y="4480560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spc="50" kern="0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solved
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felt unreliable → printed dates always win.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44768" y="2148840"/>
            <a:ext cx="2615184" cy="37033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19088" y="2423160"/>
            <a:ext cx="658368" cy="658368"/>
          </a:xfrm>
          <a:prstGeom prst="ellipse">
            <a:avLst/>
          </a:prstGeom>
          <a:solidFill>
            <a:srgbClr val="1F5D33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19088" y="24231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72" dirty="0"/>
          </a:p>
        </p:txBody>
      </p:sp>
      <p:sp>
        <p:nvSpPr>
          <p:cNvPr id="26" name="Text 24"/>
          <p:cNvSpPr/>
          <p:nvPr/>
        </p:nvSpPr>
        <p:spPr>
          <a:xfrm>
            <a:off x="6400800" y="320040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the friction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6400800" y="3657600"/>
            <a:ext cx="21579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Barcode, receipt scan, paste-a-list.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0" y="4389120"/>
            <a:ext cx="2103120" cy="1298448"/>
          </a:xfrm>
          <a:prstGeom prst="roundRect">
            <a:avLst>
              <a:gd name="adj" fmla="val 7042"/>
            </a:avLst>
          </a:prstGeom>
          <a:solidFill>
            <a:srgbClr val="E9F4CC"/>
          </a:solidFill>
          <a:ln/>
        </p:spPr>
      </p:sp>
      <p:sp>
        <p:nvSpPr>
          <p:cNvPr id="29" name="Text 27"/>
          <p:cNvSpPr/>
          <p:nvPr/>
        </p:nvSpPr>
        <p:spPr>
          <a:xfrm>
            <a:off x="6547104" y="4480560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spc="50" kern="0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solved
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was tedious → four fast input paths.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897112" y="2148840"/>
            <a:ext cx="2615184" cy="37033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171432" y="2423160"/>
            <a:ext cx="658368" cy="658368"/>
          </a:xfrm>
          <a:prstGeom prst="ellipse">
            <a:avLst/>
          </a:prstGeom>
          <a:solidFill>
            <a:srgbClr val="F0A830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171432" y="24231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72" dirty="0"/>
          </a:p>
        </p:txBody>
      </p:sp>
      <p:sp>
        <p:nvSpPr>
          <p:cNvPr id="33" name="Text 31"/>
          <p:cNvSpPr/>
          <p:nvPr/>
        </p:nvSpPr>
        <p:spPr>
          <a:xfrm>
            <a:off x="9153144" y="320040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&amp; safe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9153144" y="3657600"/>
            <a:ext cx="21579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fridge, accounts, GDPR, 33 langs.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9153144" y="4389120"/>
            <a:ext cx="2103120" cy="1298448"/>
          </a:xfrm>
          <a:prstGeom prst="roundRect">
            <a:avLst>
              <a:gd name="adj" fmla="val 7042"/>
            </a:avLst>
          </a:prstGeom>
          <a:solidFill>
            <a:srgbClr val="E9F4CC"/>
          </a:solidFill>
          <a:ln/>
        </p:spPr>
      </p:sp>
      <p:sp>
        <p:nvSpPr>
          <p:cNvPr id="36" name="Text 34"/>
          <p:cNvSpPr/>
          <p:nvPr/>
        </p:nvSpPr>
        <p:spPr>
          <a:xfrm>
            <a:off x="9299448" y="4480560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spc="50" kern="0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solved
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phones clobbered data → server-side merge.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349240"/>
            <a:ext cx="3200400" cy="3200400"/>
          </a:xfrm>
          <a:prstGeom prst="ellipse">
            <a:avLst/>
          </a:prstGeom>
          <a:solidFill>
            <a:srgbClr val="ECF3DF"/>
          </a:solidFill>
          <a:ln/>
        </p:spPr>
      </p:sp>
      <p:sp>
        <p:nvSpPr>
          <p:cNvPr id="3" name="Shape 1"/>
          <p:cNvSpPr/>
          <p:nvPr/>
        </p:nvSpPr>
        <p:spPr>
          <a:xfrm>
            <a:off x="-868680" y="-868680"/>
            <a:ext cx="2103120" cy="2103120"/>
          </a:xfrm>
          <a:prstGeom prst="ellipse">
            <a:avLst/>
          </a:prstGeom>
          <a:solidFill>
            <a:srgbClr val="EDF3E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Kulpio</a:t>
            </a:r>
            <a:pPr indent="0" marL="0">
              <a:buNone/>
            </a:pPr>
            <a:r>
              <a:rPr lang="en-US" sz="900" dirty="0">
                <a:solidFill>
                  <a:srgbClr val="9AA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food-freshness tracker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528816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502920"/>
            <a:ext cx="1860804" cy="384048"/>
          </a:xfrm>
          <a:prstGeom prst="roundRect">
            <a:avLst>
              <a:gd name="adj" fmla="val 50000"/>
            </a:avLst>
          </a:prstGeom>
          <a:solidFill>
            <a:srgbClr val="B5E04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18608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3504" y="950976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Kulpio goes from here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640080" y="2057400"/>
            <a:ext cx="6309360" cy="3794760"/>
          </a:xfrm>
          <a:prstGeom prst="roundRect">
            <a:avLst>
              <a:gd name="adj" fmla="val 31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2331720"/>
            <a:ext cx="548640" cy="548640"/>
          </a:xfrm>
          <a:prstGeom prst="ellipse">
            <a:avLst/>
          </a:prstGeom>
          <a:solidFill>
            <a:srgbClr val="E9F4C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72768" y="235000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312724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5E048"/>
                </a:solidFill>
              </a:rPr>
              <a:t>→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25880" y="312724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Android app on the Play Store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14400" y="360273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5E048"/>
                </a:solidFill>
              </a:rPr>
              <a:t>→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25880" y="360273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real user pilot &amp; publish measured results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14400" y="407822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5E048"/>
                </a:solidFill>
              </a:rPr>
              <a:t>→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407822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offline shelf-life table against reference data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14400" y="455371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5E048"/>
                </a:solidFill>
              </a:rPr>
              <a:t>→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25880" y="455371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verification (add an email provider)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14400" y="502920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5E048"/>
                </a:solidFill>
              </a:rPr>
              <a:t>→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25880" y="50292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Field-level merge for multi-device offline edits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14400" y="550468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5E048"/>
                </a:solidFill>
              </a:rPr>
              <a:t>→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25880" y="550468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shareable monthly impact report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7132320" y="2057400"/>
            <a:ext cx="4416552" cy="3794760"/>
          </a:xfrm>
          <a:prstGeom prst="roundRect">
            <a:avLst>
              <a:gd name="adj" fmla="val 3133"/>
            </a:avLst>
          </a:prstGeom>
          <a:solidFill>
            <a:srgbClr val="1F5D33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06640" y="23317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740664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065008" y="235000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5E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&amp; open-source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7406640" y="3154680"/>
            <a:ext cx="39319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under the GNU AGPL v3 — free for anyone to use, study and build on.
</a:t>
            </a:r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B5E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vision: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help households everywhere waste less food and save money — in their own language.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349240"/>
            <a:ext cx="3200400" cy="3200400"/>
          </a:xfrm>
          <a:prstGeom prst="ellipse">
            <a:avLst/>
          </a:prstGeom>
          <a:solidFill>
            <a:srgbClr val="ECF3DF"/>
          </a:solidFill>
          <a:ln/>
        </p:spPr>
      </p:sp>
      <p:sp>
        <p:nvSpPr>
          <p:cNvPr id="3" name="Shape 1"/>
          <p:cNvSpPr/>
          <p:nvPr/>
        </p:nvSpPr>
        <p:spPr>
          <a:xfrm>
            <a:off x="-868680" y="-868680"/>
            <a:ext cx="2103120" cy="2103120"/>
          </a:xfrm>
          <a:prstGeom prst="ellipse">
            <a:avLst/>
          </a:prstGeom>
          <a:solidFill>
            <a:srgbClr val="EDF3E2"/>
          </a:solidFill>
          <a:ln/>
        </p:spPr>
      </p:sp>
      <p:sp>
        <p:nvSpPr>
          <p:cNvPr id="4" name="Shape 2"/>
          <p:cNvSpPr/>
          <p:nvPr/>
        </p:nvSpPr>
        <p:spPr>
          <a:xfrm>
            <a:off x="-1554480" y="4114800"/>
            <a:ext cx="4754880" cy="4754880"/>
          </a:xfrm>
          <a:prstGeom prst="ellipse">
            <a:avLst/>
          </a:prstGeom>
          <a:solidFill>
            <a:srgbClr val="E4EFD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601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🍐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less. Save more. Together.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6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Kulpio — a food-freshness tracker that fits in your pocket, in your language.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114800"/>
            <a:ext cx="1572768" cy="457200"/>
          </a:xfrm>
          <a:prstGeom prst="roundRect">
            <a:avLst>
              <a:gd name="adj" fmla="val 20000"/>
            </a:avLst>
          </a:prstGeom>
          <a:solidFill>
            <a:srgbClr val="BF8B2E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11480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0" y="4114800"/>
            <a:ext cx="1572768" cy="457200"/>
          </a:xfrm>
          <a:prstGeom prst="roundRect">
            <a:avLst>
              <a:gd name="adj" fmla="val 20000"/>
            </a:avLst>
          </a:prstGeom>
          <a:solidFill>
            <a:srgbClr val="DDA63A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411480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4114800"/>
            <a:ext cx="1572768" cy="457200"/>
          </a:xfrm>
          <a:prstGeom prst="roundRect">
            <a:avLst>
              <a:gd name="adj" fmla="val 20000"/>
            </a:avLst>
          </a:prstGeom>
          <a:solidFill>
            <a:srgbClr val="3F7E44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0" y="411480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56692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Daniil Bejenari   ·   T.L. Orizont · Ceadîr-Lunga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github.com/Gugster777/kulpio   ·   firSTep Project Competition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Kulpio — firSTep Project Competition 2026</dc:title>
  <dc:subject>PptxGenJS Presentation</dc:subject>
  <dc:creator>Daniil Bejenari</dc:creator>
  <cp:lastModifiedBy>Daniil Bejenari</cp:lastModifiedBy>
  <cp:revision>1</cp:revision>
  <dcterms:created xsi:type="dcterms:W3CDTF">2026-07-24T21:30:24Z</dcterms:created>
  <dcterms:modified xsi:type="dcterms:W3CDTF">2026-07-24T21:30:24Z</dcterms:modified>
</cp:coreProperties>
</file>